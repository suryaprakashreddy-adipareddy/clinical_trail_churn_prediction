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7" r:id="rId6"/>
    <p:sldId id="278" r:id="rId7"/>
    <p:sldId id="279" r:id="rId8"/>
    <p:sldId id="260" r:id="rId9"/>
    <p:sldId id="261" r:id="rId10"/>
    <p:sldId id="262" r:id="rId11"/>
    <p:sldId id="264" r:id="rId12"/>
    <p:sldId id="263" r:id="rId13"/>
    <p:sldId id="265" r:id="rId14"/>
    <p:sldId id="266" r:id="rId15"/>
    <p:sldId id="267" r:id="rId16"/>
    <p:sldId id="269" r:id="rId17"/>
    <p:sldId id="270" r:id="rId18"/>
    <p:sldId id="271" r:id="rId19"/>
    <p:sldId id="272" r:id="rId20"/>
    <p:sldId id="273" r:id="rId21"/>
    <p:sldId id="280" r:id="rId22"/>
    <p:sldId id="274" r:id="rId23"/>
    <p:sldId id="275" r:id="rId24"/>
    <p:sldId id="276"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47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94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2" name="Holder 2"/>
          <p:cNvSpPr>
            <a:spLocks noGrp="1"/>
          </p:cNvSpPr>
          <p:nvPr>
            <p:ph type="title"/>
          </p:nvPr>
        </p:nvSpPr>
        <p:spPr>
          <a:xfrm>
            <a:off x="831291" y="1687449"/>
            <a:ext cx="10529417" cy="696594"/>
          </a:xfrm>
          <a:prstGeom prst="rect">
            <a:avLst/>
          </a:prstGeom>
        </p:spPr>
        <p:txBody>
          <a:bodyPr wrap="square" lIns="0" tIns="0" rIns="0" bIns="0">
            <a:spAutoFit/>
          </a:bodyPr>
          <a:lstStyle>
            <a:lvl1pPr>
              <a:defRPr sz="3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760425" y="3322701"/>
            <a:ext cx="10671149" cy="1977389"/>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9724" y="152030"/>
            <a:ext cx="3931920" cy="1600200"/>
          </a:xfrm>
          <a:prstGeom prst="rect">
            <a:avLst/>
          </a:prstGeom>
        </p:spPr>
      </p:pic>
      <p:pic>
        <p:nvPicPr>
          <p:cNvPr id="3" name="object 3"/>
          <p:cNvPicPr/>
          <p:nvPr/>
        </p:nvPicPr>
        <p:blipFill>
          <a:blip r:embed="rId3" cstate="print"/>
          <a:stretch>
            <a:fillRect/>
          </a:stretch>
        </p:blipFill>
        <p:spPr>
          <a:xfrm>
            <a:off x="6553200" y="0"/>
            <a:ext cx="5638800" cy="6857999"/>
          </a:xfrm>
          <a:prstGeom prst="rect">
            <a:avLst/>
          </a:prstGeom>
        </p:spPr>
      </p:pic>
      <p:sp>
        <p:nvSpPr>
          <p:cNvPr id="4" name="object 4"/>
          <p:cNvSpPr txBox="1">
            <a:spLocks noGrp="1"/>
          </p:cNvSpPr>
          <p:nvPr>
            <p:ph type="title"/>
          </p:nvPr>
        </p:nvSpPr>
        <p:spPr>
          <a:xfrm>
            <a:off x="152400" y="3248694"/>
            <a:ext cx="7142887" cy="2228815"/>
          </a:xfrm>
          <a:prstGeom prst="rect">
            <a:avLst/>
          </a:prstGeom>
        </p:spPr>
        <p:txBody>
          <a:bodyPr vert="horz" wrap="square" lIns="0" tIns="12700" rIns="0" bIns="0" rtlCol="0">
            <a:spAutoFit/>
          </a:bodyPr>
          <a:lstStyle/>
          <a:p>
            <a:pPr marL="12700" marR="142875">
              <a:lnSpc>
                <a:spcPct val="100000"/>
              </a:lnSpc>
              <a:spcBef>
                <a:spcPts val="100"/>
              </a:spcBef>
            </a:pPr>
            <a:r>
              <a:rPr lang="en-US" sz="4800" dirty="0">
                <a:solidFill>
                  <a:srgbClr val="15477D"/>
                </a:solidFill>
                <a:latin typeface="Times New Roman" panose="02020603050405020304" pitchFamily="18" charset="0"/>
                <a:cs typeface="Times New Roman" panose="02020603050405020304" pitchFamily="18" charset="0"/>
              </a:rPr>
              <a:t>CHURN PREDICTION                      </a:t>
            </a:r>
            <a:br>
              <a:rPr lang="en-US" sz="4800" dirty="0">
                <a:solidFill>
                  <a:srgbClr val="15477D"/>
                </a:solidFill>
                <a:latin typeface="Times New Roman" panose="02020603050405020304" pitchFamily="18" charset="0"/>
                <a:cs typeface="Times New Roman" panose="02020603050405020304" pitchFamily="18" charset="0"/>
              </a:rPr>
            </a:br>
            <a:r>
              <a:rPr lang="en-US" sz="4800" dirty="0">
                <a:solidFill>
                  <a:srgbClr val="15477D"/>
                </a:solidFill>
                <a:latin typeface="Times New Roman" panose="02020603050405020304" pitchFamily="18" charset="0"/>
                <a:cs typeface="Times New Roman" panose="02020603050405020304" pitchFamily="18" charset="0"/>
              </a:rPr>
              <a:t>                  IN </a:t>
            </a:r>
            <a:br>
              <a:rPr lang="en-US" sz="4800" dirty="0">
                <a:solidFill>
                  <a:srgbClr val="15477D"/>
                </a:solidFill>
                <a:latin typeface="Times New Roman" panose="02020603050405020304" pitchFamily="18" charset="0"/>
                <a:cs typeface="Times New Roman" panose="02020603050405020304" pitchFamily="18" charset="0"/>
              </a:rPr>
            </a:br>
            <a:r>
              <a:rPr lang="en-US" sz="4800" dirty="0">
                <a:solidFill>
                  <a:srgbClr val="15477D"/>
                </a:solidFill>
                <a:latin typeface="Times New Roman" panose="02020603050405020304" pitchFamily="18" charset="0"/>
                <a:cs typeface="Times New Roman" panose="02020603050405020304" pitchFamily="18" charset="0"/>
              </a:rPr>
              <a:t> CLINICAL TRAILS</a:t>
            </a:r>
            <a:endParaRPr sz="4800" dirty="0">
              <a:solidFill>
                <a:srgbClr val="15477D"/>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6553200" cy="26112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4400" b="0" dirty="0">
                <a:latin typeface="Calibri Light"/>
                <a:cs typeface="Calibri Light"/>
              </a:rPr>
              <a:t>TEAM</a:t>
            </a:r>
            <a:r>
              <a:rPr sz="4400" b="0" spc="-70" dirty="0">
                <a:latin typeface="Calibri Light"/>
                <a:cs typeface="Calibri Light"/>
              </a:rPr>
              <a:t> </a:t>
            </a:r>
            <a:r>
              <a:rPr sz="4400" b="0" spc="-40" dirty="0">
                <a:latin typeface="Calibri Light"/>
                <a:cs typeface="Calibri Light"/>
              </a:rPr>
              <a:t>DETAILS:</a:t>
            </a:r>
            <a:endParaRPr sz="4400">
              <a:latin typeface="Calibri Light"/>
              <a:cs typeface="Calibri Light"/>
            </a:endParaRPr>
          </a:p>
        </p:txBody>
      </p:sp>
      <p:graphicFrame>
        <p:nvGraphicFramePr>
          <p:cNvPr id="3" name="object 3"/>
          <p:cNvGraphicFramePr>
            <a:graphicFrameLocks noGrp="1"/>
          </p:cNvGraphicFramePr>
          <p:nvPr>
            <p:extLst>
              <p:ext uri="{D42A27DB-BD31-4B8C-83A1-F6EECF244321}">
                <p14:modId xmlns:p14="http://schemas.microsoft.com/office/powerpoint/2010/main" val="3142756801"/>
              </p:ext>
            </p:extLst>
          </p:nvPr>
        </p:nvGraphicFramePr>
        <p:xfrm>
          <a:off x="2135377" y="2761488"/>
          <a:ext cx="7737474" cy="2280285"/>
        </p:xfrm>
        <a:graphic>
          <a:graphicData uri="http://schemas.openxmlformats.org/drawingml/2006/table">
            <a:tbl>
              <a:tblPr firstRow="1" bandRow="1">
                <a:tableStyleId>{2D5ABB26-0587-4C30-8999-92F81FD0307C}</a:tableStyleId>
              </a:tblPr>
              <a:tblGrid>
                <a:gridCol w="629920">
                  <a:extLst>
                    <a:ext uri="{9D8B030D-6E8A-4147-A177-3AD203B41FA5}">
                      <a16:colId xmlns:a16="http://schemas.microsoft.com/office/drawing/2014/main" val="20000"/>
                    </a:ext>
                  </a:extLst>
                </a:gridCol>
                <a:gridCol w="4354195">
                  <a:extLst>
                    <a:ext uri="{9D8B030D-6E8A-4147-A177-3AD203B41FA5}">
                      <a16:colId xmlns:a16="http://schemas.microsoft.com/office/drawing/2014/main" val="20001"/>
                    </a:ext>
                  </a:extLst>
                </a:gridCol>
                <a:gridCol w="2753359">
                  <a:extLst>
                    <a:ext uri="{9D8B030D-6E8A-4147-A177-3AD203B41FA5}">
                      <a16:colId xmlns:a16="http://schemas.microsoft.com/office/drawing/2014/main" val="20002"/>
                    </a:ext>
                  </a:extLst>
                </a:gridCol>
              </a:tblGrid>
              <a:tr h="797560">
                <a:tc>
                  <a:txBody>
                    <a:bodyPr/>
                    <a:lstStyle/>
                    <a:p>
                      <a:pPr marL="91440">
                        <a:lnSpc>
                          <a:spcPct val="100000"/>
                        </a:lnSpc>
                        <a:spcBef>
                          <a:spcPts val="245"/>
                        </a:spcBef>
                      </a:pPr>
                      <a:r>
                        <a:rPr sz="1800" b="1" spc="-20" dirty="0">
                          <a:solidFill>
                            <a:srgbClr val="FFFFFF"/>
                          </a:solidFill>
                          <a:latin typeface="Calibri"/>
                          <a:cs typeface="Calibri"/>
                        </a:rPr>
                        <a:t>S.no</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5"/>
                        </a:spcBef>
                      </a:pPr>
                      <a:r>
                        <a:rPr sz="1800" b="1" dirty="0">
                          <a:solidFill>
                            <a:srgbClr val="FFFFFF"/>
                          </a:solidFill>
                          <a:latin typeface="Calibri"/>
                          <a:cs typeface="Calibri"/>
                        </a:rPr>
                        <a:t>STUDENT</a:t>
                      </a:r>
                      <a:r>
                        <a:rPr sz="1800" b="1" spc="-65" dirty="0">
                          <a:solidFill>
                            <a:srgbClr val="FFFFFF"/>
                          </a:solidFill>
                          <a:latin typeface="Calibri"/>
                          <a:cs typeface="Calibri"/>
                        </a:rPr>
                        <a:t> </a:t>
                      </a:r>
                      <a:r>
                        <a:rPr sz="1800" b="1" spc="-20" dirty="0">
                          <a:solidFill>
                            <a:srgbClr val="FFFFFF"/>
                          </a:solidFill>
                          <a:latin typeface="Calibri"/>
                          <a:cs typeface="Calibri"/>
                        </a:rPr>
                        <a:t>NAME</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5"/>
                        </a:spcBef>
                      </a:pPr>
                      <a:r>
                        <a:rPr sz="1800" b="1" spc="-10" dirty="0">
                          <a:solidFill>
                            <a:srgbClr val="FFFFFF"/>
                          </a:solidFill>
                          <a:latin typeface="Calibri"/>
                          <a:cs typeface="Calibri"/>
                        </a:rPr>
                        <a:t>REG.NO</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40">
                <a:tc>
                  <a:txBody>
                    <a:bodyPr/>
                    <a:lstStyle/>
                    <a:p>
                      <a:pPr marL="91440">
                        <a:lnSpc>
                          <a:spcPct val="100000"/>
                        </a:lnSpc>
                        <a:spcBef>
                          <a:spcPts val="245"/>
                        </a:spcBef>
                      </a:pPr>
                      <a:r>
                        <a:rPr sz="1800" dirty="0">
                          <a:latin typeface="Calibri"/>
                          <a:cs typeface="Calibri"/>
                        </a:rPr>
                        <a:t>1</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5"/>
                        </a:spcBef>
                      </a:pPr>
                      <a:r>
                        <a:rPr lang="en-US" sz="1800" dirty="0">
                          <a:latin typeface="Calibri"/>
                          <a:cs typeface="Calibri"/>
                        </a:rPr>
                        <a:t>P.PRUDVI</a:t>
                      </a:r>
                      <a:r>
                        <a:rPr lang="en-US" sz="1800" baseline="0" dirty="0">
                          <a:latin typeface="Calibri"/>
                          <a:cs typeface="Calibri"/>
                        </a:rPr>
                        <a:t> VENKAT</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10" dirty="0">
                          <a:latin typeface="Calibri"/>
                          <a:cs typeface="Calibri"/>
                        </a:rPr>
                        <a:t>99220040</a:t>
                      </a:r>
                      <a:r>
                        <a:rPr lang="en-US" sz="1800" spc="-10" dirty="0">
                          <a:latin typeface="Calibri"/>
                          <a:cs typeface="Calibri"/>
                        </a:rPr>
                        <a:t>334</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91440">
                        <a:lnSpc>
                          <a:spcPct val="100000"/>
                        </a:lnSpc>
                        <a:spcBef>
                          <a:spcPts val="245"/>
                        </a:spcBef>
                      </a:pPr>
                      <a:r>
                        <a:rPr sz="1800" dirty="0">
                          <a:latin typeface="Calibri"/>
                          <a:cs typeface="Calibri"/>
                        </a:rPr>
                        <a:t>2</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spc="-20" dirty="0">
                          <a:latin typeface="Calibri"/>
                          <a:cs typeface="Calibri"/>
                        </a:rPr>
                        <a:t>A.SURYA</a:t>
                      </a:r>
                      <a:r>
                        <a:rPr sz="1800" spc="-45" dirty="0">
                          <a:latin typeface="Calibri"/>
                          <a:cs typeface="Calibri"/>
                        </a:rPr>
                        <a:t> </a:t>
                      </a:r>
                      <a:r>
                        <a:rPr sz="1800" dirty="0">
                          <a:latin typeface="Calibri"/>
                          <a:cs typeface="Calibri"/>
                        </a:rPr>
                        <a:t>PRAKASH</a:t>
                      </a:r>
                      <a:r>
                        <a:rPr sz="1800" spc="-20" dirty="0">
                          <a:latin typeface="Calibri"/>
                          <a:cs typeface="Calibri"/>
                        </a:rPr>
                        <a:t> REDDY</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10" dirty="0">
                          <a:latin typeface="Calibri"/>
                          <a:cs typeface="Calibri"/>
                        </a:rPr>
                        <a:t>99220040385</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91440">
                        <a:lnSpc>
                          <a:spcPct val="100000"/>
                        </a:lnSpc>
                        <a:spcBef>
                          <a:spcPts val="245"/>
                        </a:spcBef>
                      </a:pPr>
                      <a:r>
                        <a:rPr sz="1800" dirty="0">
                          <a:latin typeface="Calibri"/>
                          <a:cs typeface="Calibri"/>
                        </a:rPr>
                        <a:t>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5"/>
                        </a:spcBef>
                      </a:pPr>
                      <a:r>
                        <a:rPr lang="en-US" sz="1800" spc="-10" dirty="0">
                          <a:latin typeface="Calibri"/>
                          <a:cs typeface="Calibri"/>
                        </a:rPr>
                        <a:t>N.NANDU</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10" dirty="0">
                          <a:latin typeface="Calibri"/>
                          <a:cs typeface="Calibri"/>
                        </a:rPr>
                        <a:t>992200403</a:t>
                      </a:r>
                      <a:r>
                        <a:rPr lang="en-US" sz="1800" spc="-10" dirty="0">
                          <a:latin typeface="Calibri"/>
                          <a:cs typeface="Calibri"/>
                        </a:rPr>
                        <a:t>13</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91440">
                        <a:lnSpc>
                          <a:spcPct val="100000"/>
                        </a:lnSpc>
                        <a:spcBef>
                          <a:spcPts val="245"/>
                        </a:spcBef>
                      </a:pPr>
                      <a:r>
                        <a:rPr sz="1800" dirty="0">
                          <a:latin typeface="Calibri"/>
                          <a:cs typeface="Calibri"/>
                        </a:rPr>
                        <a:t>4</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lang="en-US" sz="1800" dirty="0">
                          <a:latin typeface="Calibri"/>
                          <a:cs typeface="Calibri"/>
                        </a:rPr>
                        <a:t>P.VAMSHI</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spc="-10" dirty="0">
                          <a:latin typeface="Calibri"/>
                          <a:cs typeface="Calibri"/>
                        </a:rPr>
                        <a:t>992200403</a:t>
                      </a:r>
                      <a:r>
                        <a:rPr lang="en-US" sz="1800" spc="-10" dirty="0">
                          <a:latin typeface="Calibri"/>
                          <a:cs typeface="Calibri"/>
                        </a:rPr>
                        <a:t>40</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7893" rIns="0" bIns="0" rtlCol="0">
            <a:spAutoFit/>
          </a:bodyPr>
          <a:lstStyle/>
          <a:p>
            <a:pPr marL="97790">
              <a:lnSpc>
                <a:spcPct val="100000"/>
              </a:lnSpc>
              <a:spcBef>
                <a:spcPts val="105"/>
              </a:spcBef>
            </a:pPr>
            <a:r>
              <a:rPr sz="3200" dirty="0"/>
              <a:t>PROBLEM</a:t>
            </a:r>
            <a:r>
              <a:rPr sz="3200" spc="-10" dirty="0"/>
              <a:t> </a:t>
            </a:r>
            <a:r>
              <a:rPr sz="3200" spc="-70" dirty="0"/>
              <a:t>STATEMENT:</a:t>
            </a:r>
            <a:endParaRPr sz="3200"/>
          </a:p>
        </p:txBody>
      </p:sp>
      <p:sp>
        <p:nvSpPr>
          <p:cNvPr id="3" name="object 3"/>
          <p:cNvSpPr txBox="1"/>
          <p:nvPr/>
        </p:nvSpPr>
        <p:spPr>
          <a:xfrm>
            <a:off x="559409" y="2850641"/>
            <a:ext cx="11252835" cy="2376163"/>
          </a:xfrm>
          <a:prstGeom prst="rect">
            <a:avLst/>
          </a:prstGeom>
        </p:spPr>
        <p:txBody>
          <a:bodyPr vert="horz" wrap="square" lIns="0" tIns="48895" rIns="0" bIns="0" rtlCol="0">
            <a:spAutoFit/>
          </a:bodyPr>
          <a:lstStyle/>
          <a:p>
            <a:pPr marL="12700" marR="5080" algn="just">
              <a:lnSpc>
                <a:spcPct val="90000"/>
              </a:lnSpc>
              <a:spcBef>
                <a:spcPts val="385"/>
              </a:spcBef>
            </a:pPr>
            <a:r>
              <a:rPr lang="en-US" sz="2400" dirty="0">
                <a:latin typeface="Times New Roman"/>
                <a:cs typeface="Times New Roman"/>
              </a:rPr>
              <a:t>The primary challenge in clinical trials lies in the effective recruitment and retention of participants, which are critical for the success and validity of a study. High dropout rates and difficulties in attracting suitable participants can delay timelines, increase costs, and compromise data integrity. This issue is further complicated by stringent inclusion/exclusion criteria, geographic barriers, and the demands placed on patients, such as frequent visits and complex protocols. Addressing these obstacles is essential to ensure clinical trials are completed efficiently and deliver reliable, meaningful results.</a:t>
            </a:r>
            <a:endParaRPr sz="2400" dirty="0">
              <a:latin typeface="Times New Roman"/>
              <a:cs typeface="Times New Roman"/>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1540002"/>
            <a:ext cx="6015355" cy="543560"/>
          </a:xfrm>
          <a:prstGeom prst="rect">
            <a:avLst/>
          </a:prstGeom>
        </p:spPr>
        <p:txBody>
          <a:bodyPr vert="horz" wrap="square" lIns="0" tIns="12065" rIns="0" bIns="0" rtlCol="0">
            <a:spAutoFit/>
          </a:bodyPr>
          <a:lstStyle/>
          <a:p>
            <a:pPr marL="12700">
              <a:lnSpc>
                <a:spcPct val="100000"/>
              </a:lnSpc>
              <a:spcBef>
                <a:spcPts val="95"/>
              </a:spcBef>
            </a:pPr>
            <a:r>
              <a:rPr spc="-30" dirty="0"/>
              <a:t>WHY</a:t>
            </a:r>
            <a:r>
              <a:rPr spc="-185" dirty="0"/>
              <a:t> </a:t>
            </a:r>
            <a:r>
              <a:rPr dirty="0"/>
              <a:t>WE</a:t>
            </a:r>
            <a:r>
              <a:rPr spc="-160" dirty="0"/>
              <a:t> </a:t>
            </a:r>
            <a:r>
              <a:rPr spc="-110" dirty="0"/>
              <a:t>HAVE</a:t>
            </a:r>
            <a:r>
              <a:rPr spc="-80" dirty="0"/>
              <a:t> </a:t>
            </a:r>
            <a:r>
              <a:rPr dirty="0"/>
              <a:t>CHOOSEN</a:t>
            </a:r>
            <a:r>
              <a:rPr spc="-55" dirty="0"/>
              <a:t> </a:t>
            </a:r>
            <a:r>
              <a:rPr spc="-25" dirty="0"/>
              <a:t>??</a:t>
            </a:r>
          </a:p>
        </p:txBody>
      </p:sp>
      <p:sp>
        <p:nvSpPr>
          <p:cNvPr id="3" name="object 3"/>
          <p:cNvSpPr txBox="1"/>
          <p:nvPr/>
        </p:nvSpPr>
        <p:spPr>
          <a:xfrm>
            <a:off x="36945" y="2209800"/>
            <a:ext cx="12004675" cy="4363374"/>
          </a:xfrm>
          <a:prstGeom prst="rect">
            <a:avLst/>
          </a:prstGeom>
        </p:spPr>
        <p:txBody>
          <a:bodyPr vert="horz" wrap="square" lIns="0" tIns="53975" rIns="0" bIns="0" rtlCol="0">
            <a:spAutoFit/>
          </a:bodyPr>
          <a:lstStyle/>
          <a:p>
            <a:pPr marL="241300" marR="32384" indent="-228600">
              <a:lnSpc>
                <a:spcPts val="2590"/>
              </a:lnSpc>
              <a:spcBef>
                <a:spcPts val="425"/>
              </a:spcBef>
              <a:buSzPct val="95833"/>
              <a:buFont typeface="Wingdings"/>
              <a:buChar char=""/>
              <a:tabLst>
                <a:tab pos="255904" algn="l"/>
              </a:tabLst>
            </a:pPr>
            <a:r>
              <a:rPr lang="en-US" sz="2400" dirty="0">
                <a:latin typeface="Times New Roman"/>
                <a:cs typeface="Times New Roman"/>
              </a:rPr>
              <a:t>We selected this problem because patient recruitment and retention are critical challenges in clinical trials, directly affecting the reliability, cost, and efficiency of medical research.</a:t>
            </a:r>
          </a:p>
          <a:p>
            <a:pPr marL="241300" marR="32384" indent="-228600">
              <a:lnSpc>
                <a:spcPts val="2590"/>
              </a:lnSpc>
              <a:spcBef>
                <a:spcPts val="425"/>
              </a:spcBef>
              <a:buSzPct val="95833"/>
              <a:buFont typeface="Wingdings"/>
              <a:buChar char=""/>
              <a:tabLst>
                <a:tab pos="255904" algn="l"/>
              </a:tabLst>
            </a:pPr>
            <a:endParaRPr lang="en-US" sz="2400" dirty="0">
              <a:latin typeface="Times New Roman"/>
              <a:cs typeface="Times New Roman"/>
            </a:endParaRPr>
          </a:p>
          <a:p>
            <a:pPr marL="241300" marR="32384" indent="-228600">
              <a:lnSpc>
                <a:spcPts val="2590"/>
              </a:lnSpc>
              <a:spcBef>
                <a:spcPts val="425"/>
              </a:spcBef>
              <a:buSzPct val="95833"/>
              <a:buFont typeface="Wingdings"/>
              <a:buChar char=""/>
              <a:tabLst>
                <a:tab pos="255904" algn="l"/>
              </a:tabLst>
            </a:pPr>
            <a:r>
              <a:rPr lang="en-US" sz="2400" dirty="0">
                <a:latin typeface="Times New Roman"/>
                <a:cs typeface="Times New Roman"/>
              </a:rPr>
              <a:t> High dropout rates and recruitment difficulties can delay timelines, increase expenses, and reduce data quality, impacting the development of new treatments. </a:t>
            </a:r>
          </a:p>
          <a:p>
            <a:pPr marL="241300" marR="32384" indent="-228600">
              <a:lnSpc>
                <a:spcPts val="2590"/>
              </a:lnSpc>
              <a:spcBef>
                <a:spcPts val="425"/>
              </a:spcBef>
              <a:buSzPct val="95833"/>
              <a:buFont typeface="Wingdings"/>
              <a:buChar char=""/>
              <a:tabLst>
                <a:tab pos="255904" algn="l"/>
              </a:tabLst>
            </a:pPr>
            <a:endParaRPr lang="en-US" sz="2400" dirty="0">
              <a:latin typeface="Times New Roman"/>
              <a:cs typeface="Times New Roman"/>
            </a:endParaRPr>
          </a:p>
          <a:p>
            <a:pPr marL="241300" marR="32384" indent="-228600">
              <a:lnSpc>
                <a:spcPts val="2590"/>
              </a:lnSpc>
              <a:spcBef>
                <a:spcPts val="425"/>
              </a:spcBef>
              <a:buSzPct val="95833"/>
              <a:buFont typeface="Wingdings"/>
              <a:buChar char=""/>
              <a:tabLst>
                <a:tab pos="255904" algn="l"/>
              </a:tabLst>
            </a:pPr>
            <a:r>
              <a:rPr lang="en-US" sz="2400" dirty="0">
                <a:latin typeface="Times New Roman"/>
                <a:cs typeface="Times New Roman"/>
              </a:rPr>
              <a:t>Influenced by factors like eligibility criteria, geographic barriers, and patient burden, this complex issue is well-suited for a data-driven approach. </a:t>
            </a:r>
          </a:p>
          <a:p>
            <a:pPr marL="241300" marR="32384" indent="-228600">
              <a:lnSpc>
                <a:spcPts val="2590"/>
              </a:lnSpc>
              <a:spcBef>
                <a:spcPts val="425"/>
              </a:spcBef>
              <a:buSzPct val="95833"/>
              <a:buFont typeface="Wingdings"/>
              <a:buChar char=""/>
              <a:tabLst>
                <a:tab pos="255904" algn="l"/>
              </a:tabLst>
            </a:pPr>
            <a:endParaRPr lang="en-US" sz="2400" dirty="0">
              <a:latin typeface="Times New Roman"/>
              <a:cs typeface="Times New Roman"/>
            </a:endParaRPr>
          </a:p>
          <a:p>
            <a:pPr marL="241300" marR="32384" indent="-228600">
              <a:lnSpc>
                <a:spcPts val="2590"/>
              </a:lnSpc>
              <a:spcBef>
                <a:spcPts val="425"/>
              </a:spcBef>
              <a:buSzPct val="95833"/>
              <a:buFont typeface="Wingdings"/>
              <a:buChar char=""/>
              <a:tabLst>
                <a:tab pos="255904" algn="l"/>
              </a:tabLst>
            </a:pPr>
            <a:r>
              <a:rPr lang="en-US" sz="2400" dirty="0">
                <a:latin typeface="Times New Roman"/>
                <a:cs typeface="Times New Roman"/>
              </a:rPr>
              <a:t>By leveraging predictive modeling and personalized retention strategies, our project aims to streamline trial processes, benefiting both researchers and patients, and accelerating healthcare advancements.</a:t>
            </a:r>
            <a:endParaRPr sz="2400" dirty="0">
              <a:latin typeface="Times New Roman"/>
              <a:cs typeface="Times New Roman"/>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914400"/>
            <a:ext cx="10529417" cy="523220"/>
          </a:xfrm>
        </p:spPr>
        <p:txBody>
          <a:bodyPr/>
          <a:lstStyle/>
          <a:p>
            <a:r>
              <a:rPr lang="en-US" dirty="0"/>
              <a:t>THE PROJECT AIMS TO HAVE:-</a:t>
            </a:r>
            <a:endParaRPr lang="en-IN" dirty="0"/>
          </a:p>
        </p:txBody>
      </p:sp>
      <p:sp>
        <p:nvSpPr>
          <p:cNvPr id="3" name="Text Placeholder 2"/>
          <p:cNvSpPr>
            <a:spLocks noGrp="1"/>
          </p:cNvSpPr>
          <p:nvPr>
            <p:ph type="body" idx="1"/>
          </p:nvPr>
        </p:nvSpPr>
        <p:spPr>
          <a:xfrm>
            <a:off x="152400" y="1066800"/>
            <a:ext cx="11734800" cy="5690008"/>
          </a:xfrm>
        </p:spPr>
        <p:txBody>
          <a:bodyPr/>
          <a:lstStyle/>
          <a:p>
            <a:endParaRPr lang="en-US" sz="2800" b="1" dirty="0"/>
          </a:p>
          <a:p>
            <a:r>
              <a:rPr lang="en-US" sz="2800" b="1" dirty="0"/>
              <a:t>The Dataset May contain:-</a:t>
            </a:r>
          </a:p>
          <a:p>
            <a:endParaRPr lang="en-IN" dirty="0"/>
          </a:p>
          <a:p>
            <a:pPr marL="342900" indent="-342900">
              <a:buFont typeface="Wingdings" panose="05000000000000000000" pitchFamily="2" charset="2"/>
              <a:buChar char="Ø"/>
            </a:pPr>
            <a:r>
              <a:rPr lang="en-IN" b="1" dirty="0"/>
              <a:t>Patient Demographics</a:t>
            </a:r>
            <a:r>
              <a:rPr lang="en-IN" dirty="0"/>
              <a:t>: Age, gender, race, ethnicity, geographical location.</a:t>
            </a:r>
          </a:p>
          <a:p>
            <a:pPr marL="342900" indent="-342900">
              <a:buFont typeface="Wingdings" panose="05000000000000000000" pitchFamily="2" charset="2"/>
              <a:buChar char="Ø"/>
            </a:pPr>
            <a:r>
              <a:rPr lang="en-IN" b="1" dirty="0" err="1"/>
              <a:t>Enrollment</a:t>
            </a:r>
            <a:r>
              <a:rPr lang="en-IN" b="1" dirty="0"/>
              <a:t> Stage</a:t>
            </a:r>
            <a:r>
              <a:rPr lang="en-IN" dirty="0"/>
              <a:t>: Screening, informed consent, randomization, treatment initiation, follow-up.</a:t>
            </a:r>
          </a:p>
          <a:p>
            <a:pPr marL="342900" indent="-342900">
              <a:buFont typeface="Wingdings" panose="05000000000000000000" pitchFamily="2" charset="2"/>
              <a:buChar char="Ø"/>
            </a:pPr>
            <a:r>
              <a:rPr lang="en-IN" b="1" dirty="0"/>
              <a:t>Dropout Reasons</a:t>
            </a:r>
            <a:r>
              <a:rPr lang="en-IN" dirty="0"/>
              <a:t>: Lost to follow-up, adverse events, protocol violations, patient withdrawal, </a:t>
            </a:r>
            <a:r>
              <a:rPr lang="en-IN" dirty="0" err="1"/>
              <a:t>etc</a:t>
            </a:r>
            <a:endParaRPr lang="en-IN" dirty="0"/>
          </a:p>
          <a:p>
            <a:pPr marL="342900" indent="-342900">
              <a:buFont typeface="Wingdings" panose="05000000000000000000" pitchFamily="2" charset="2"/>
              <a:buChar char="Ø"/>
            </a:pPr>
            <a:endParaRPr lang="en-US" dirty="0"/>
          </a:p>
          <a:p>
            <a:r>
              <a:rPr lang="en-US" sz="2800" b="1" dirty="0"/>
              <a:t>The Goals to identify:-</a:t>
            </a:r>
          </a:p>
          <a:p>
            <a:pPr marL="342900" indent="-342900">
              <a:buFont typeface="Wingdings" panose="05000000000000000000" pitchFamily="2" charset="2"/>
              <a:buChar char="Ø"/>
            </a:pPr>
            <a:endParaRPr lang="en-US" dirty="0"/>
          </a:p>
          <a:p>
            <a:pPr marL="342900" indent="-342900">
              <a:buFont typeface="Wingdings" panose="05000000000000000000" pitchFamily="2" charset="2"/>
              <a:buChar char="Ø"/>
            </a:pPr>
            <a:r>
              <a:rPr lang="en-US" b="1" dirty="0"/>
              <a:t>Identify bottlenecks: </a:t>
            </a:r>
            <a:r>
              <a:rPr lang="en-US" dirty="0"/>
              <a:t>Pinpoint stages of the trial where patients are most likely to drop out.</a:t>
            </a:r>
          </a:p>
          <a:p>
            <a:pPr marL="342900" indent="-342900">
              <a:buFont typeface="Wingdings" panose="05000000000000000000" pitchFamily="2" charset="2"/>
              <a:buChar char="Ø"/>
            </a:pPr>
            <a:r>
              <a:rPr lang="en-US" b="1" dirty="0"/>
              <a:t>Optimize recruitment strategies</a:t>
            </a:r>
            <a:r>
              <a:rPr lang="en-US" dirty="0"/>
              <a:t>: Develop more effective methods for attracting and enrolling eligible patients.</a:t>
            </a:r>
          </a:p>
          <a:p>
            <a:pPr marL="342900" indent="-342900">
              <a:buFont typeface="Wingdings" panose="05000000000000000000" pitchFamily="2" charset="2"/>
              <a:buChar char="Ø"/>
            </a:pPr>
            <a:endParaRPr lang="en-US" dirty="0"/>
          </a:p>
          <a:p>
            <a:r>
              <a:rPr lang="en-US" sz="2800" b="1" dirty="0"/>
              <a:t>Visualization:-</a:t>
            </a:r>
          </a:p>
          <a:p>
            <a:pPr marL="342900" indent="-342900">
              <a:buFont typeface="Wingdings" panose="05000000000000000000" pitchFamily="2" charset="2"/>
              <a:buChar char="Ø"/>
            </a:pPr>
            <a:endParaRPr lang="en-US" dirty="0"/>
          </a:p>
          <a:p>
            <a:pPr marL="342900" indent="-342900">
              <a:buFont typeface="Wingdings" panose="05000000000000000000" pitchFamily="2" charset="2"/>
              <a:buChar char="Ø"/>
            </a:pPr>
            <a:r>
              <a:rPr lang="en-US" b="1" dirty="0"/>
              <a:t>Bar </a:t>
            </a:r>
            <a:r>
              <a:rPr lang="en-US" b="1" dirty="0" err="1"/>
              <a:t>Charts</a:t>
            </a:r>
            <a:r>
              <a:rPr lang="en-US" dirty="0" err="1"/>
              <a:t>:Visualize</a:t>
            </a:r>
            <a:r>
              <a:rPr lang="en-US" dirty="0"/>
              <a:t> the number of patients at each stage of the trial.</a:t>
            </a:r>
          </a:p>
          <a:p>
            <a:pPr marL="342900" indent="-342900">
              <a:buFont typeface="Wingdings" panose="05000000000000000000" pitchFamily="2" charset="2"/>
              <a:buChar char="Ø"/>
            </a:pPr>
            <a:r>
              <a:rPr lang="en-US" dirty="0"/>
              <a:t>Compare enrollment rates across different demographics or geographic regions.</a:t>
            </a:r>
            <a:endParaRPr lang="en-IN" dirty="0"/>
          </a:p>
        </p:txBody>
      </p:sp>
      <p:pic>
        <p:nvPicPr>
          <p:cNvPr id="4" name="object 4"/>
          <p:cNvPicPr/>
          <p:nvPr/>
        </p:nvPicPr>
        <p:blipFill>
          <a:blip r:embed="rId2" cstate="print"/>
          <a:stretch>
            <a:fillRect/>
          </a:stretch>
        </p:blipFill>
        <p:spPr>
          <a:xfrm>
            <a:off x="1141203" y="-1"/>
            <a:ext cx="9314688" cy="827532"/>
          </a:xfrm>
          <a:prstGeom prst="rect">
            <a:avLst/>
          </a:prstGeom>
        </p:spPr>
      </p:pic>
    </p:spTree>
    <p:extLst>
      <p:ext uri="{BB962C8B-B14F-4D97-AF65-F5344CB8AC3E}">
        <p14:creationId xmlns:p14="http://schemas.microsoft.com/office/powerpoint/2010/main" val="976640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10529417" cy="523220"/>
          </a:xfrm>
        </p:spPr>
        <p:txBody>
          <a:bodyPr/>
          <a:lstStyle/>
          <a:p>
            <a:r>
              <a:rPr lang="en-US" dirty="0"/>
              <a:t>REAL TIME EXAMPLE:-</a:t>
            </a:r>
            <a:endParaRPr lang="en-IN" dirty="0"/>
          </a:p>
        </p:txBody>
      </p:sp>
      <p:sp>
        <p:nvSpPr>
          <p:cNvPr id="3" name="Text Placeholder 2"/>
          <p:cNvSpPr>
            <a:spLocks noGrp="1"/>
          </p:cNvSpPr>
          <p:nvPr>
            <p:ph type="body" idx="1"/>
          </p:nvPr>
        </p:nvSpPr>
        <p:spPr>
          <a:xfrm>
            <a:off x="152400" y="1066800"/>
            <a:ext cx="11947236" cy="5539978"/>
          </a:xfrm>
        </p:spPr>
        <p:txBody>
          <a:bodyPr/>
          <a:lstStyle/>
          <a:p>
            <a:pPr marL="342900" indent="-342900">
              <a:buFont typeface="Wingdings" panose="05000000000000000000" pitchFamily="2" charset="2"/>
              <a:buChar char="Ø"/>
            </a:pPr>
            <a:r>
              <a:rPr lang="en-US" b="1" dirty="0"/>
              <a:t>Objective</a:t>
            </a:r>
            <a:r>
              <a:rPr lang="en-US" dirty="0"/>
              <a:t>: The trial aims to test whether this new medication effectively reduces headache symptoms and if it's safe for users.</a:t>
            </a:r>
          </a:p>
          <a:p>
            <a:endParaRPr lang="en-US" dirty="0"/>
          </a:p>
          <a:p>
            <a:pPr marL="342900" indent="-342900">
              <a:buFont typeface="Wingdings" panose="05000000000000000000" pitchFamily="2" charset="2"/>
              <a:buChar char="Ø"/>
            </a:pPr>
            <a:r>
              <a:rPr lang="en-US" b="1" dirty="0"/>
              <a:t>Participants</a:t>
            </a:r>
            <a:r>
              <a:rPr lang="en-US" dirty="0"/>
              <a:t>: 200 individuals who suffer from frequent headaches are selected. They're divided into two groups: 100 people receive the new medication (the treatment group), and 100 people receive a placebo (the control group).</a:t>
            </a:r>
          </a:p>
          <a:p>
            <a:endParaRPr lang="en-US" b="1" dirty="0"/>
          </a:p>
          <a:p>
            <a:pPr marL="342900" indent="-342900">
              <a:buFont typeface="Wingdings" panose="05000000000000000000" pitchFamily="2" charset="2"/>
              <a:buChar char="Ø"/>
            </a:pPr>
            <a:r>
              <a:rPr lang="en-US" b="1" dirty="0"/>
              <a:t>Data Collection</a:t>
            </a:r>
            <a:r>
              <a:rPr lang="en-US" dirty="0"/>
              <a:t>: Participants take the medication or placebo daily for one month. They're asked to report headache severity, frequency, and any side effects in a daily log.</a:t>
            </a:r>
          </a:p>
          <a:p>
            <a:endParaRPr lang="en-US" dirty="0"/>
          </a:p>
          <a:p>
            <a:pPr marL="342900" indent="-342900">
              <a:buFont typeface="Wingdings" panose="05000000000000000000" pitchFamily="2" charset="2"/>
              <a:buChar char="Ø"/>
            </a:pPr>
            <a:r>
              <a:rPr lang="en-US" b="1" dirty="0"/>
              <a:t>Analysis</a:t>
            </a:r>
            <a:r>
              <a:rPr lang="en-US" dirty="0"/>
              <a:t>: After the trial, researchers analyze data to see if the treatment group reported fewer headaches than the control group. They also compare the severity of headaches and any side effects.</a:t>
            </a:r>
          </a:p>
          <a:p>
            <a:pPr marL="342900" indent="-342900">
              <a:buFont typeface="Wingdings" panose="05000000000000000000" pitchFamily="2" charset="2"/>
              <a:buChar char="Ø"/>
            </a:pPr>
            <a:endParaRPr lang="en-US" dirty="0"/>
          </a:p>
          <a:p>
            <a:pPr marL="342900" indent="-342900">
              <a:buFont typeface="Wingdings" panose="05000000000000000000" pitchFamily="2" charset="2"/>
              <a:buChar char="Ø"/>
            </a:pPr>
            <a:r>
              <a:rPr lang="en-US" b="1" dirty="0"/>
              <a:t>Results</a:t>
            </a:r>
            <a:r>
              <a:rPr lang="en-US" dirty="0"/>
              <a:t>: If the treatment group experiences a significant reduction in headache symptoms compared to the control group with minimal side effects, researchers conclude the medication is effective and safe. Otherwise, adjustments are made for further testing or improvement.</a:t>
            </a:r>
          </a:p>
          <a:p>
            <a:pPr marL="342900" indent="-342900">
              <a:buFont typeface="Wingdings" panose="05000000000000000000" pitchFamily="2" charset="2"/>
              <a:buChar char="Ø"/>
            </a:pPr>
            <a:r>
              <a:rPr lang="en-US" dirty="0"/>
              <a:t>Functionality for </a:t>
            </a:r>
            <a:r>
              <a:rPr lang="en-US" dirty="0" err="1"/>
              <a:t>WebsHe</a:t>
            </a:r>
            <a:r>
              <a:rPr lang="en-US" dirty="0"/>
              <a:t> Website </a:t>
            </a:r>
            <a:r>
              <a:rPr lang="en-US" dirty="0" err="1"/>
              <a:t>DevelopmeThis</a:t>
            </a:r>
            <a:r>
              <a:rPr lang="en-US" dirty="0"/>
              <a:t> type of analysis helps researchers determine if a new medication is effective and safe before it becomes widely available.</a:t>
            </a:r>
            <a:endParaRPr lang="en-IN" dirty="0"/>
          </a:p>
        </p:txBody>
      </p:sp>
    </p:spTree>
    <p:extLst>
      <p:ext uri="{BB962C8B-B14F-4D97-AF65-F5344CB8AC3E}">
        <p14:creationId xmlns:p14="http://schemas.microsoft.com/office/powerpoint/2010/main" val="7550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10529417" cy="523220"/>
          </a:xfrm>
        </p:spPr>
        <p:txBody>
          <a:bodyPr/>
          <a:lstStyle/>
          <a:p>
            <a:r>
              <a:rPr lang="en-US" dirty="0"/>
              <a:t>ABSTRACT:</a:t>
            </a:r>
            <a:endParaRPr lang="en-IN" dirty="0"/>
          </a:p>
        </p:txBody>
      </p:sp>
      <p:sp>
        <p:nvSpPr>
          <p:cNvPr id="3" name="Text Placeholder 2"/>
          <p:cNvSpPr>
            <a:spLocks noGrp="1"/>
          </p:cNvSpPr>
          <p:nvPr>
            <p:ph type="body" idx="1"/>
          </p:nvPr>
        </p:nvSpPr>
        <p:spPr>
          <a:xfrm>
            <a:off x="381000" y="2286000"/>
            <a:ext cx="10671149" cy="3693319"/>
          </a:xfrm>
        </p:spPr>
        <p:txBody>
          <a:bodyPr/>
          <a:lstStyle/>
          <a:p>
            <a:pPr marL="457200" indent="-457200">
              <a:buFont typeface="Wingdings" panose="05000000000000000000" pitchFamily="2" charset="2"/>
              <a:buChar char="Ø"/>
            </a:pPr>
            <a:r>
              <a:rPr lang="en-US" dirty="0"/>
              <a:t>This clinical trial analysis project aims to enhance trial success by addressing key challenges in patient recruitment, retention, and data variability. </a:t>
            </a:r>
          </a:p>
          <a:p>
            <a:endParaRPr lang="en-US" dirty="0"/>
          </a:p>
          <a:p>
            <a:pPr marL="342900" indent="-342900">
              <a:buFont typeface="Wingdings" panose="05000000000000000000" pitchFamily="2" charset="2"/>
              <a:buChar char="Ø"/>
            </a:pPr>
            <a:r>
              <a:rPr lang="en-US" dirty="0"/>
              <a:t>Using advanced statistical and machine learning techniques, the study analyzes patterns in patient demographics, enrollment stages, and retention behaviors to identify factors impacting trial outcomes. </a:t>
            </a:r>
          </a:p>
          <a:p>
            <a:endParaRPr lang="en-US" dirty="0"/>
          </a:p>
          <a:p>
            <a:pPr marL="342900" indent="-342900">
              <a:buFont typeface="Wingdings" panose="05000000000000000000" pitchFamily="2" charset="2"/>
              <a:buChar char="Ø"/>
            </a:pPr>
            <a:r>
              <a:rPr lang="en-US" dirty="0"/>
              <a:t>A data-driven framework is developed to predict dropout risk, providing tailored recommendations to improve retention. </a:t>
            </a:r>
          </a:p>
          <a:p>
            <a:endParaRPr lang="en-US" dirty="0"/>
          </a:p>
          <a:p>
            <a:pPr marL="342900" indent="-342900">
              <a:buFont typeface="Wingdings" panose="05000000000000000000" pitchFamily="2" charset="2"/>
              <a:buChar char="Ø"/>
            </a:pPr>
            <a:r>
              <a:rPr lang="en-US" dirty="0"/>
              <a:t>This approach delivers actionable insights to streamline clinical trial processes, boost patient engagement, and support more reliable, efficient medical research.</a:t>
            </a:r>
            <a:endParaRPr lang="en-IN" dirty="0"/>
          </a:p>
        </p:txBody>
      </p:sp>
      <p:pic>
        <p:nvPicPr>
          <p:cNvPr id="5" name="object 4"/>
          <p:cNvPicPr/>
          <p:nvPr/>
        </p:nvPicPr>
        <p:blipFill>
          <a:blip r:embed="rId2" cstate="print"/>
          <a:stretch>
            <a:fillRect/>
          </a:stretch>
        </p:blipFill>
        <p:spPr>
          <a:xfrm>
            <a:off x="1367789" y="133064"/>
            <a:ext cx="9314688" cy="827532"/>
          </a:xfrm>
          <a:prstGeom prst="rect">
            <a:avLst/>
          </a:prstGeom>
        </p:spPr>
      </p:pic>
    </p:spTree>
    <p:extLst>
      <p:ext uri="{BB962C8B-B14F-4D97-AF65-F5344CB8AC3E}">
        <p14:creationId xmlns:p14="http://schemas.microsoft.com/office/powerpoint/2010/main" val="2493802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447800"/>
            <a:ext cx="3618865" cy="543560"/>
          </a:xfrm>
          <a:prstGeom prst="rect">
            <a:avLst/>
          </a:prstGeom>
        </p:spPr>
        <p:txBody>
          <a:bodyPr vert="horz" wrap="square" lIns="0" tIns="12065" rIns="0" bIns="0" rtlCol="0">
            <a:spAutoFit/>
          </a:bodyPr>
          <a:lstStyle/>
          <a:p>
            <a:pPr marL="12700">
              <a:lnSpc>
                <a:spcPct val="100000"/>
              </a:lnSpc>
              <a:spcBef>
                <a:spcPts val="95"/>
              </a:spcBef>
            </a:pPr>
            <a:r>
              <a:rPr spc="-10" dirty="0"/>
              <a:t>INTRODUCTION:</a:t>
            </a:r>
          </a:p>
        </p:txBody>
      </p:sp>
      <p:sp>
        <p:nvSpPr>
          <p:cNvPr id="3" name="object 3"/>
          <p:cNvSpPr txBox="1"/>
          <p:nvPr/>
        </p:nvSpPr>
        <p:spPr>
          <a:xfrm>
            <a:off x="27709" y="2293265"/>
            <a:ext cx="12864407" cy="4264629"/>
          </a:xfrm>
          <a:prstGeom prst="rect">
            <a:avLst/>
          </a:prstGeom>
        </p:spPr>
        <p:txBody>
          <a:bodyPr vert="horz" wrap="square" lIns="0" tIns="57785" rIns="0" bIns="0" rtlCol="0">
            <a:spAutoFit/>
          </a:bodyPr>
          <a:lstStyle/>
          <a:p>
            <a:pPr marL="241300" marR="1070610" indent="-228600">
              <a:lnSpc>
                <a:spcPts val="2810"/>
              </a:lnSpc>
              <a:spcBef>
                <a:spcPts val="455"/>
              </a:spcBef>
              <a:buSzPct val="96153"/>
              <a:buFont typeface="Wingdings"/>
              <a:buChar char=""/>
              <a:tabLst>
                <a:tab pos="276860" algn="l"/>
              </a:tabLst>
            </a:pPr>
            <a:r>
              <a:rPr lang="en-US" sz="2000" dirty="0">
                <a:latin typeface="Times New Roman" panose="02020603050405020304" pitchFamily="18" charset="0"/>
                <a:cs typeface="Times New Roman" panose="02020603050405020304" pitchFamily="18" charset="0"/>
              </a:rPr>
              <a:t>Clinical trials are essential to the development of new medical treatments, providing the data necessary to assess the safety, efficacy, and optimal application of drugs and therapies.</a:t>
            </a:r>
          </a:p>
          <a:p>
            <a:pPr marL="241300" marR="1070610" indent="-228600">
              <a:lnSpc>
                <a:spcPts val="2810"/>
              </a:lnSpc>
              <a:spcBef>
                <a:spcPts val="455"/>
              </a:spcBef>
              <a:buSzPct val="96153"/>
              <a:buFont typeface="Wingdings"/>
              <a:buChar char=""/>
              <a:tabLst>
                <a:tab pos="276860" algn="l"/>
              </a:tabLst>
            </a:pPr>
            <a:r>
              <a:rPr lang="en-US" sz="2000" dirty="0">
                <a:latin typeface="Times New Roman" panose="02020603050405020304" pitchFamily="18" charset="0"/>
                <a:cs typeface="Times New Roman" panose="02020603050405020304" pitchFamily="18" charset="0"/>
              </a:rPr>
              <a:t>This project addresses the critical challenges of patient recruitment and retention in clinical trials, which are essential for assessing new medical treatments.</a:t>
            </a:r>
          </a:p>
          <a:p>
            <a:pPr marL="241300" marR="1070610" indent="-228600">
              <a:lnSpc>
                <a:spcPts val="2810"/>
              </a:lnSpc>
              <a:spcBef>
                <a:spcPts val="455"/>
              </a:spcBef>
              <a:buSzPct val="96153"/>
              <a:buFont typeface="Wingdings"/>
              <a:buChar char=""/>
              <a:tabLst>
                <a:tab pos="276860" algn="l"/>
              </a:tabLst>
            </a:pPr>
            <a:r>
              <a:rPr lang="en-US" sz="2000" dirty="0">
                <a:latin typeface="Times New Roman" panose="02020603050405020304" pitchFamily="18" charset="0"/>
                <a:cs typeface="Times New Roman" panose="02020603050405020304" pitchFamily="18" charset="0"/>
              </a:rPr>
              <a:t>In this project, we aim to enhance clinical trial success by predicting patient churn—whether a participant is likely to continue in the study or drop out. </a:t>
            </a:r>
          </a:p>
          <a:p>
            <a:pPr marL="241300" marR="1070610" indent="-228600">
              <a:lnSpc>
                <a:spcPts val="2810"/>
              </a:lnSpc>
              <a:spcBef>
                <a:spcPts val="455"/>
              </a:spcBef>
              <a:buSzPct val="96153"/>
              <a:buFont typeface="Wingdings"/>
              <a:buChar char=""/>
              <a:tabLst>
                <a:tab pos="276860" algn="l"/>
              </a:tabLst>
            </a:pPr>
            <a:r>
              <a:rPr lang="en-US" sz="2000" dirty="0">
                <a:latin typeface="Times New Roman" panose="02020603050405020304" pitchFamily="18" charset="0"/>
                <a:cs typeface="Times New Roman" panose="02020603050405020304" pitchFamily="18" charset="0"/>
              </a:rPr>
              <a:t>Using machine learning models like Random Forest,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Gradient Boosting, we predict patient dropout risk based on demographics and enrollment data. Key factors such as age, location, and enrollment stage are analyzed to identify high-risk participants.</a:t>
            </a:r>
          </a:p>
          <a:p>
            <a:pPr marL="241300" marR="1070610" indent="-228600">
              <a:lnSpc>
                <a:spcPts val="2810"/>
              </a:lnSpc>
              <a:spcBef>
                <a:spcPts val="455"/>
              </a:spcBef>
              <a:buSzPct val="96153"/>
              <a:buFont typeface="Wingdings"/>
              <a:buChar char=""/>
              <a:tabLst>
                <a:tab pos="276860" algn="l"/>
              </a:tabLst>
            </a:pPr>
            <a:r>
              <a:rPr lang="en-US" sz="2000" dirty="0">
                <a:latin typeface="Times New Roman" panose="02020603050405020304" pitchFamily="18" charset="0"/>
                <a:cs typeface="Times New Roman" panose="02020603050405020304" pitchFamily="18" charset="0"/>
              </a:rPr>
              <a:t> Additionally, we have developed a web application that allows trial coordinators to access these predictions and insights, enabling proactive strategies to reduce dropout rates and improve trial efficiency.</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1291" y="1969719"/>
            <a:ext cx="3757929" cy="697230"/>
          </a:xfrm>
          <a:prstGeom prst="rect">
            <a:avLst/>
          </a:prstGeom>
        </p:spPr>
        <p:txBody>
          <a:bodyPr vert="horz" wrap="square" lIns="0" tIns="13335" rIns="0" bIns="0" rtlCol="0">
            <a:spAutoFit/>
          </a:bodyPr>
          <a:lstStyle/>
          <a:p>
            <a:pPr marL="12700">
              <a:lnSpc>
                <a:spcPct val="100000"/>
              </a:lnSpc>
              <a:spcBef>
                <a:spcPts val="105"/>
              </a:spcBef>
            </a:pPr>
            <a:r>
              <a:rPr sz="4400" spc="-10" dirty="0"/>
              <a:t>OBJECTIVES:</a:t>
            </a:r>
            <a:endParaRPr sz="4400"/>
          </a:p>
        </p:txBody>
      </p:sp>
      <p:sp>
        <p:nvSpPr>
          <p:cNvPr id="3" name="object 3"/>
          <p:cNvSpPr txBox="1"/>
          <p:nvPr/>
        </p:nvSpPr>
        <p:spPr>
          <a:xfrm>
            <a:off x="916939" y="2929889"/>
            <a:ext cx="4648880" cy="3284232"/>
          </a:xfrm>
          <a:prstGeom prst="rect">
            <a:avLst/>
          </a:prstGeom>
        </p:spPr>
        <p:txBody>
          <a:bodyPr vert="horz" wrap="square" lIns="0" tIns="102870" rIns="0" bIns="0" rtlCol="0">
            <a:spAutoFit/>
          </a:bodyPr>
          <a:lstStyle/>
          <a:p>
            <a:pPr marL="241300" indent="-229235">
              <a:lnSpc>
                <a:spcPct val="100000"/>
              </a:lnSpc>
              <a:spcBef>
                <a:spcPts val="810"/>
              </a:spcBef>
              <a:buFont typeface="Arial"/>
              <a:buChar char="•"/>
              <a:tabLst>
                <a:tab pos="241935" algn="l"/>
              </a:tabLst>
            </a:pPr>
            <a:r>
              <a:rPr lang="en-IN" sz="2000" dirty="0">
                <a:latin typeface="Times New Roman" panose="02020603050405020304" pitchFamily="18" charset="0"/>
                <a:cs typeface="Times New Roman" panose="02020603050405020304" pitchFamily="18" charset="0"/>
              </a:rPr>
              <a:t>Predict Patient Dropout Risk</a:t>
            </a:r>
          </a:p>
          <a:p>
            <a:pPr marL="241300" indent="-229235">
              <a:lnSpc>
                <a:spcPct val="100000"/>
              </a:lnSpc>
              <a:spcBef>
                <a:spcPts val="810"/>
              </a:spcBef>
              <a:buFont typeface="Arial"/>
              <a:buChar char="•"/>
              <a:tabLst>
                <a:tab pos="241935" algn="l"/>
              </a:tabLst>
            </a:pPr>
            <a:r>
              <a:rPr lang="en-IN" sz="2000" dirty="0">
                <a:latin typeface="Times New Roman" panose="02020603050405020304" pitchFamily="18" charset="0"/>
                <a:cs typeface="Times New Roman" panose="02020603050405020304" pitchFamily="18" charset="0"/>
              </a:rPr>
              <a:t>Identify Key Dropout Factors</a:t>
            </a:r>
          </a:p>
          <a:p>
            <a:pPr marL="241300" indent="-229235">
              <a:lnSpc>
                <a:spcPct val="100000"/>
              </a:lnSpc>
              <a:spcBef>
                <a:spcPts val="810"/>
              </a:spcBef>
              <a:buFont typeface="Arial"/>
              <a:buChar char="•"/>
              <a:tabLst>
                <a:tab pos="241935" algn="l"/>
              </a:tabLst>
            </a:pPr>
            <a:r>
              <a:rPr lang="en-IN" sz="2000" dirty="0">
                <a:latin typeface="Times New Roman" panose="02020603050405020304" pitchFamily="18" charset="0"/>
                <a:cs typeface="Times New Roman" panose="02020603050405020304" pitchFamily="18" charset="0"/>
              </a:rPr>
              <a:t>Generate Retention Recommendations </a:t>
            </a:r>
          </a:p>
          <a:p>
            <a:pPr marL="241300" indent="-229235">
              <a:lnSpc>
                <a:spcPct val="100000"/>
              </a:lnSpc>
              <a:spcBef>
                <a:spcPts val="810"/>
              </a:spcBef>
              <a:buFont typeface="Arial"/>
              <a:buChar char="•"/>
              <a:tabLst>
                <a:tab pos="241935" algn="l"/>
              </a:tabLst>
            </a:pPr>
            <a:r>
              <a:rPr lang="en-IN" sz="2000" dirty="0">
                <a:latin typeface="Times New Roman" panose="02020603050405020304" pitchFamily="18" charset="0"/>
                <a:cs typeface="Times New Roman" panose="02020603050405020304" pitchFamily="18" charset="0"/>
              </a:rPr>
              <a:t>Enhance Patient Retention </a:t>
            </a:r>
          </a:p>
          <a:p>
            <a:pPr marL="241300" indent="-229235">
              <a:lnSpc>
                <a:spcPct val="100000"/>
              </a:lnSpc>
              <a:spcBef>
                <a:spcPts val="810"/>
              </a:spcBef>
              <a:buFont typeface="Arial"/>
              <a:buChar char="•"/>
              <a:tabLst>
                <a:tab pos="241935" algn="l"/>
              </a:tabLst>
            </a:pP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Demographic Influence </a:t>
            </a:r>
          </a:p>
          <a:p>
            <a:pPr marL="241300" indent="-229235">
              <a:lnSpc>
                <a:spcPct val="100000"/>
              </a:lnSpc>
              <a:spcBef>
                <a:spcPts val="810"/>
              </a:spcBef>
              <a:buFont typeface="Arial"/>
              <a:buChar char="•"/>
              <a:tabLst>
                <a:tab pos="241935" algn="l"/>
              </a:tabLst>
            </a:pPr>
            <a:r>
              <a:rPr lang="en-IN" sz="2000" dirty="0">
                <a:latin typeface="Times New Roman" panose="02020603050405020304" pitchFamily="18" charset="0"/>
                <a:cs typeface="Times New Roman" panose="02020603050405020304" pitchFamily="18" charset="0"/>
              </a:rPr>
              <a:t>Provide Real-Time Insights </a:t>
            </a:r>
          </a:p>
          <a:p>
            <a:pPr marL="241300" indent="-229235">
              <a:lnSpc>
                <a:spcPct val="100000"/>
              </a:lnSpc>
              <a:spcBef>
                <a:spcPts val="810"/>
              </a:spcBef>
              <a:buFont typeface="Arial"/>
              <a:buChar char="•"/>
              <a:tabLst>
                <a:tab pos="241935" algn="l"/>
              </a:tabLst>
            </a:pPr>
            <a:r>
              <a:rPr lang="en-IN" sz="2000" dirty="0">
                <a:latin typeface="Times New Roman" panose="02020603050405020304" pitchFamily="18" charset="0"/>
                <a:cs typeface="Times New Roman" panose="02020603050405020304" pitchFamily="18" charset="0"/>
              </a:rPr>
              <a:t>Optimize Trial Efficiency</a:t>
            </a:r>
          </a:p>
          <a:p>
            <a:pPr marL="241300" indent="-229235">
              <a:lnSpc>
                <a:spcPct val="100000"/>
              </a:lnSpc>
              <a:spcBef>
                <a:spcPts val="810"/>
              </a:spcBef>
              <a:buFont typeface="Arial"/>
              <a:buChar char="•"/>
              <a:tabLst>
                <a:tab pos="241935" algn="l"/>
              </a:tabLst>
            </a:pPr>
            <a:r>
              <a:rPr lang="en-US" sz="2000" dirty="0">
                <a:latin typeface="Times New Roman" panose="02020603050405020304" pitchFamily="18" charset="0"/>
                <a:cs typeface="Times New Roman" panose="02020603050405020304" pitchFamily="18" charset="0"/>
              </a:rPr>
              <a:t>Time Saving and cost reduction</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
        <p:nvSpPr>
          <p:cNvPr id="5" name="object 5"/>
          <p:cNvSpPr/>
          <p:nvPr/>
        </p:nvSpPr>
        <p:spPr>
          <a:xfrm>
            <a:off x="6778752" y="2936748"/>
            <a:ext cx="702945" cy="615950"/>
          </a:xfrm>
          <a:custGeom>
            <a:avLst/>
            <a:gdLst/>
            <a:ahLst/>
            <a:cxnLst/>
            <a:rect l="l" t="t" r="r" b="b"/>
            <a:pathLst>
              <a:path w="702945" h="615950">
                <a:moveTo>
                  <a:pt x="146176" y="366775"/>
                </a:moveTo>
                <a:lnTo>
                  <a:pt x="84327" y="366775"/>
                </a:lnTo>
                <a:lnTo>
                  <a:pt x="101852" y="384480"/>
                </a:lnTo>
                <a:lnTo>
                  <a:pt x="120602" y="401827"/>
                </a:lnTo>
                <a:lnTo>
                  <a:pt x="140424" y="419175"/>
                </a:lnTo>
                <a:lnTo>
                  <a:pt x="194170" y="465314"/>
                </a:lnTo>
                <a:lnTo>
                  <a:pt x="228111" y="495773"/>
                </a:lnTo>
                <a:lnTo>
                  <a:pt x="262972" y="528969"/>
                </a:lnTo>
                <a:lnTo>
                  <a:pt x="298741" y="565615"/>
                </a:lnTo>
                <a:lnTo>
                  <a:pt x="335406" y="606425"/>
                </a:lnTo>
                <a:lnTo>
                  <a:pt x="335406" y="608202"/>
                </a:lnTo>
                <a:lnTo>
                  <a:pt x="339090" y="613790"/>
                </a:lnTo>
                <a:lnTo>
                  <a:pt x="344677" y="615696"/>
                </a:lnTo>
                <a:lnTo>
                  <a:pt x="357886" y="615696"/>
                </a:lnTo>
                <a:lnTo>
                  <a:pt x="361569" y="613790"/>
                </a:lnTo>
                <a:lnTo>
                  <a:pt x="367156" y="608202"/>
                </a:lnTo>
                <a:lnTo>
                  <a:pt x="367156" y="606425"/>
                </a:lnTo>
                <a:lnTo>
                  <a:pt x="402393" y="565786"/>
                </a:lnTo>
                <a:lnTo>
                  <a:pt x="405871" y="562228"/>
                </a:lnTo>
                <a:lnTo>
                  <a:pt x="352171" y="562228"/>
                </a:lnTo>
                <a:lnTo>
                  <a:pt x="310167" y="516757"/>
                </a:lnTo>
                <a:lnTo>
                  <a:pt x="268843" y="476297"/>
                </a:lnTo>
                <a:lnTo>
                  <a:pt x="228923" y="439624"/>
                </a:lnTo>
                <a:lnTo>
                  <a:pt x="191134" y="405511"/>
                </a:lnTo>
                <a:lnTo>
                  <a:pt x="179091" y="395547"/>
                </a:lnTo>
                <a:lnTo>
                  <a:pt x="157148" y="375667"/>
                </a:lnTo>
                <a:lnTo>
                  <a:pt x="146176" y="366775"/>
                </a:lnTo>
                <a:close/>
              </a:path>
              <a:path w="702945" h="615950">
                <a:moveTo>
                  <a:pt x="616004" y="368680"/>
                </a:moveTo>
                <a:lnTo>
                  <a:pt x="563879" y="368680"/>
                </a:lnTo>
                <a:lnTo>
                  <a:pt x="550511" y="376471"/>
                </a:lnTo>
                <a:lnTo>
                  <a:pt x="476293" y="439624"/>
                </a:lnTo>
                <a:lnTo>
                  <a:pt x="435800" y="476297"/>
                </a:lnTo>
                <a:lnTo>
                  <a:pt x="394259" y="516757"/>
                </a:lnTo>
                <a:lnTo>
                  <a:pt x="352171" y="562228"/>
                </a:lnTo>
                <a:lnTo>
                  <a:pt x="405871" y="562228"/>
                </a:lnTo>
                <a:lnTo>
                  <a:pt x="437886" y="529481"/>
                </a:lnTo>
                <a:lnTo>
                  <a:pt x="473007" y="496541"/>
                </a:lnTo>
                <a:lnTo>
                  <a:pt x="539623" y="436879"/>
                </a:lnTo>
                <a:lnTo>
                  <a:pt x="560318" y="417907"/>
                </a:lnTo>
                <a:lnTo>
                  <a:pt x="580310" y="399780"/>
                </a:lnTo>
                <a:lnTo>
                  <a:pt x="599612" y="382676"/>
                </a:lnTo>
                <a:lnTo>
                  <a:pt x="616004" y="368680"/>
                </a:lnTo>
                <a:close/>
              </a:path>
              <a:path w="702945" h="615950">
                <a:moveTo>
                  <a:pt x="355281" y="280288"/>
                </a:moveTo>
                <a:lnTo>
                  <a:pt x="314705" y="280288"/>
                </a:lnTo>
                <a:lnTo>
                  <a:pt x="378459" y="436879"/>
                </a:lnTo>
                <a:lnTo>
                  <a:pt x="380365" y="442467"/>
                </a:lnTo>
                <a:lnTo>
                  <a:pt x="387857" y="447928"/>
                </a:lnTo>
                <a:lnTo>
                  <a:pt x="395350" y="449834"/>
                </a:lnTo>
                <a:lnTo>
                  <a:pt x="404622" y="449834"/>
                </a:lnTo>
                <a:lnTo>
                  <a:pt x="412115" y="446150"/>
                </a:lnTo>
                <a:lnTo>
                  <a:pt x="415925" y="440563"/>
                </a:lnTo>
                <a:lnTo>
                  <a:pt x="452860" y="381507"/>
                </a:lnTo>
                <a:lnTo>
                  <a:pt x="395350" y="381507"/>
                </a:lnTo>
                <a:lnTo>
                  <a:pt x="355281" y="280288"/>
                </a:lnTo>
                <a:close/>
              </a:path>
              <a:path w="702945" h="615950">
                <a:moveTo>
                  <a:pt x="680084" y="326263"/>
                </a:moveTo>
                <a:lnTo>
                  <a:pt x="434594" y="326263"/>
                </a:lnTo>
                <a:lnTo>
                  <a:pt x="429005" y="329946"/>
                </a:lnTo>
                <a:lnTo>
                  <a:pt x="423418" y="335534"/>
                </a:lnTo>
                <a:lnTo>
                  <a:pt x="395350" y="381507"/>
                </a:lnTo>
                <a:lnTo>
                  <a:pt x="452860" y="381507"/>
                </a:lnTo>
                <a:lnTo>
                  <a:pt x="460882" y="368680"/>
                </a:lnTo>
                <a:lnTo>
                  <a:pt x="616004" y="368680"/>
                </a:lnTo>
                <a:lnTo>
                  <a:pt x="618236" y="366775"/>
                </a:lnTo>
                <a:lnTo>
                  <a:pt x="680084" y="366775"/>
                </a:lnTo>
                <a:lnTo>
                  <a:pt x="689115" y="365174"/>
                </a:lnTo>
                <a:lnTo>
                  <a:pt x="696229" y="360822"/>
                </a:lnTo>
                <a:lnTo>
                  <a:pt x="700891" y="354399"/>
                </a:lnTo>
                <a:lnTo>
                  <a:pt x="702564" y="346582"/>
                </a:lnTo>
                <a:lnTo>
                  <a:pt x="700891" y="338746"/>
                </a:lnTo>
                <a:lnTo>
                  <a:pt x="696229" y="332279"/>
                </a:lnTo>
                <a:lnTo>
                  <a:pt x="689115" y="327884"/>
                </a:lnTo>
                <a:lnTo>
                  <a:pt x="680084" y="326263"/>
                </a:lnTo>
                <a:close/>
              </a:path>
              <a:path w="702945" h="615950">
                <a:moveTo>
                  <a:pt x="187325" y="0"/>
                </a:moveTo>
                <a:lnTo>
                  <a:pt x="148826" y="4048"/>
                </a:lnTo>
                <a:lnTo>
                  <a:pt x="79543" y="34289"/>
                </a:lnTo>
                <a:lnTo>
                  <a:pt x="50546" y="59054"/>
                </a:lnTo>
                <a:lnTo>
                  <a:pt x="13319" y="119395"/>
                </a:lnTo>
                <a:lnTo>
                  <a:pt x="0" y="193548"/>
                </a:lnTo>
                <a:lnTo>
                  <a:pt x="2867" y="227460"/>
                </a:lnTo>
                <a:lnTo>
                  <a:pt x="11699" y="260159"/>
                </a:lnTo>
                <a:lnTo>
                  <a:pt x="26842" y="291810"/>
                </a:lnTo>
                <a:lnTo>
                  <a:pt x="48641" y="322579"/>
                </a:lnTo>
                <a:lnTo>
                  <a:pt x="48641" y="326263"/>
                </a:lnTo>
                <a:lnTo>
                  <a:pt x="6096" y="332279"/>
                </a:lnTo>
                <a:lnTo>
                  <a:pt x="0" y="346582"/>
                </a:lnTo>
                <a:lnTo>
                  <a:pt x="1643" y="354399"/>
                </a:lnTo>
                <a:lnTo>
                  <a:pt x="6096" y="360822"/>
                </a:lnTo>
                <a:lnTo>
                  <a:pt x="12644" y="365174"/>
                </a:lnTo>
                <a:lnTo>
                  <a:pt x="20574" y="366775"/>
                </a:lnTo>
                <a:lnTo>
                  <a:pt x="267843" y="366775"/>
                </a:lnTo>
                <a:lnTo>
                  <a:pt x="277241" y="363092"/>
                </a:lnTo>
                <a:lnTo>
                  <a:pt x="281050" y="355726"/>
                </a:lnTo>
                <a:lnTo>
                  <a:pt x="295838" y="322579"/>
                </a:lnTo>
                <a:lnTo>
                  <a:pt x="101219" y="322579"/>
                </a:lnTo>
                <a:lnTo>
                  <a:pt x="76777" y="293399"/>
                </a:lnTo>
                <a:lnTo>
                  <a:pt x="57800" y="262969"/>
                </a:lnTo>
                <a:lnTo>
                  <a:pt x="45515" y="230086"/>
                </a:lnTo>
                <a:lnTo>
                  <a:pt x="41148" y="193548"/>
                </a:lnTo>
                <a:lnTo>
                  <a:pt x="43870" y="163911"/>
                </a:lnTo>
                <a:lnTo>
                  <a:pt x="64079" y="110162"/>
                </a:lnTo>
                <a:lnTo>
                  <a:pt x="102242" y="68135"/>
                </a:lnTo>
                <a:lnTo>
                  <a:pt x="156170" y="45450"/>
                </a:lnTo>
                <a:lnTo>
                  <a:pt x="187325" y="42417"/>
                </a:lnTo>
                <a:lnTo>
                  <a:pt x="298811" y="42417"/>
                </a:lnTo>
                <a:lnTo>
                  <a:pt x="279606" y="26765"/>
                </a:lnTo>
                <a:lnTo>
                  <a:pt x="238377" y="7500"/>
                </a:lnTo>
                <a:lnTo>
                  <a:pt x="187325" y="0"/>
                </a:lnTo>
                <a:close/>
              </a:path>
              <a:path w="702945" h="615950">
                <a:moveTo>
                  <a:pt x="631516" y="42417"/>
                </a:moveTo>
                <a:lnTo>
                  <a:pt x="515239" y="42417"/>
                </a:lnTo>
                <a:lnTo>
                  <a:pt x="544292" y="45450"/>
                </a:lnTo>
                <a:lnTo>
                  <a:pt x="571928" y="54197"/>
                </a:lnTo>
                <a:lnTo>
                  <a:pt x="620141" y="86740"/>
                </a:lnTo>
                <a:lnTo>
                  <a:pt x="649636" y="135286"/>
                </a:lnTo>
                <a:lnTo>
                  <a:pt x="659511" y="193548"/>
                </a:lnTo>
                <a:lnTo>
                  <a:pt x="655413" y="230143"/>
                </a:lnTo>
                <a:lnTo>
                  <a:pt x="643588" y="263429"/>
                </a:lnTo>
                <a:lnTo>
                  <a:pt x="624738" y="294953"/>
                </a:lnTo>
                <a:lnTo>
                  <a:pt x="599567" y="326263"/>
                </a:lnTo>
                <a:lnTo>
                  <a:pt x="652018" y="326263"/>
                </a:lnTo>
                <a:lnTo>
                  <a:pt x="652018" y="322579"/>
                </a:lnTo>
                <a:lnTo>
                  <a:pt x="674114" y="291810"/>
                </a:lnTo>
                <a:lnTo>
                  <a:pt x="689911" y="260159"/>
                </a:lnTo>
                <a:lnTo>
                  <a:pt x="699398" y="227460"/>
                </a:lnTo>
                <a:lnTo>
                  <a:pt x="702564" y="193548"/>
                </a:lnTo>
                <a:lnTo>
                  <a:pt x="699119" y="156710"/>
                </a:lnTo>
                <a:lnTo>
                  <a:pt x="689006" y="121443"/>
                </a:lnTo>
                <a:lnTo>
                  <a:pt x="672560" y="88606"/>
                </a:lnTo>
                <a:lnTo>
                  <a:pt x="650113" y="59054"/>
                </a:lnTo>
                <a:lnTo>
                  <a:pt x="631516" y="42417"/>
                </a:lnTo>
                <a:close/>
              </a:path>
              <a:path w="702945" h="615950">
                <a:moveTo>
                  <a:pt x="320421" y="200913"/>
                </a:moveTo>
                <a:lnTo>
                  <a:pt x="301625" y="200913"/>
                </a:lnTo>
                <a:lnTo>
                  <a:pt x="294131" y="206501"/>
                </a:lnTo>
                <a:lnTo>
                  <a:pt x="292226" y="211962"/>
                </a:lnTo>
                <a:lnTo>
                  <a:pt x="243586" y="322579"/>
                </a:lnTo>
                <a:lnTo>
                  <a:pt x="295838" y="322579"/>
                </a:lnTo>
                <a:lnTo>
                  <a:pt x="314705" y="280288"/>
                </a:lnTo>
                <a:lnTo>
                  <a:pt x="355281" y="280288"/>
                </a:lnTo>
                <a:lnTo>
                  <a:pt x="329692" y="215646"/>
                </a:lnTo>
                <a:lnTo>
                  <a:pt x="327914" y="208279"/>
                </a:lnTo>
                <a:lnTo>
                  <a:pt x="320421" y="200913"/>
                </a:lnTo>
                <a:close/>
              </a:path>
              <a:path w="702945" h="615950">
                <a:moveTo>
                  <a:pt x="298811" y="42417"/>
                </a:moveTo>
                <a:lnTo>
                  <a:pt x="187325" y="42417"/>
                </a:lnTo>
                <a:lnTo>
                  <a:pt x="226026" y="48077"/>
                </a:lnTo>
                <a:lnTo>
                  <a:pt x="257857" y="62737"/>
                </a:lnTo>
                <a:lnTo>
                  <a:pt x="301625" y="105155"/>
                </a:lnTo>
                <a:lnTo>
                  <a:pt x="322945" y="140319"/>
                </a:lnTo>
                <a:lnTo>
                  <a:pt x="333501" y="175132"/>
                </a:lnTo>
                <a:lnTo>
                  <a:pt x="342900" y="180721"/>
                </a:lnTo>
                <a:lnTo>
                  <a:pt x="359664" y="180721"/>
                </a:lnTo>
                <a:lnTo>
                  <a:pt x="367156" y="175132"/>
                </a:lnTo>
                <a:lnTo>
                  <a:pt x="369062" y="165862"/>
                </a:lnTo>
                <a:lnTo>
                  <a:pt x="372471" y="155876"/>
                </a:lnTo>
                <a:lnTo>
                  <a:pt x="379380" y="141033"/>
                </a:lnTo>
                <a:lnTo>
                  <a:pt x="389100" y="123428"/>
                </a:lnTo>
                <a:lnTo>
                  <a:pt x="398552" y="108838"/>
                </a:lnTo>
                <a:lnTo>
                  <a:pt x="350393" y="108838"/>
                </a:lnTo>
                <a:lnTo>
                  <a:pt x="346962" y="101905"/>
                </a:lnTo>
                <a:lnTo>
                  <a:pt x="338766" y="88086"/>
                </a:lnTo>
                <a:lnTo>
                  <a:pt x="335406" y="81152"/>
                </a:lnTo>
                <a:lnTo>
                  <a:pt x="311715" y="52935"/>
                </a:lnTo>
                <a:lnTo>
                  <a:pt x="298811" y="42417"/>
                </a:lnTo>
                <a:close/>
              </a:path>
              <a:path w="702945" h="615950">
                <a:moveTo>
                  <a:pt x="515239" y="0"/>
                </a:moveTo>
                <a:lnTo>
                  <a:pt x="464186" y="7500"/>
                </a:lnTo>
                <a:lnTo>
                  <a:pt x="422957" y="26765"/>
                </a:lnTo>
                <a:lnTo>
                  <a:pt x="390848" y="52935"/>
                </a:lnTo>
                <a:lnTo>
                  <a:pt x="362162" y="88086"/>
                </a:lnTo>
                <a:lnTo>
                  <a:pt x="354316" y="101905"/>
                </a:lnTo>
                <a:lnTo>
                  <a:pt x="350393" y="108838"/>
                </a:lnTo>
                <a:lnTo>
                  <a:pt x="398552" y="108838"/>
                </a:lnTo>
                <a:lnTo>
                  <a:pt x="400939" y="105155"/>
                </a:lnTo>
                <a:lnTo>
                  <a:pt x="419298" y="82923"/>
                </a:lnTo>
                <a:lnTo>
                  <a:pt x="443991" y="62737"/>
                </a:lnTo>
                <a:lnTo>
                  <a:pt x="475734" y="48077"/>
                </a:lnTo>
                <a:lnTo>
                  <a:pt x="515239" y="42417"/>
                </a:lnTo>
                <a:lnTo>
                  <a:pt x="631516" y="42417"/>
                </a:lnTo>
                <a:lnTo>
                  <a:pt x="622430" y="34289"/>
                </a:lnTo>
                <a:lnTo>
                  <a:pt x="590391" y="15716"/>
                </a:lnTo>
                <a:lnTo>
                  <a:pt x="554493" y="4048"/>
                </a:lnTo>
                <a:lnTo>
                  <a:pt x="515239" y="0"/>
                </a:lnTo>
                <a:close/>
              </a:path>
            </a:pathLst>
          </a:custGeom>
          <a:solidFill>
            <a:srgbClr val="44536A"/>
          </a:solidFill>
        </p:spPr>
        <p:txBody>
          <a:bodyPr wrap="square" lIns="0" tIns="0" rIns="0" bIns="0" rtlCol="0"/>
          <a:lstStyle/>
          <a:p>
            <a:endParaRPr/>
          </a:p>
        </p:txBody>
      </p:sp>
      <p:sp>
        <p:nvSpPr>
          <p:cNvPr id="6" name="object 6"/>
          <p:cNvSpPr/>
          <p:nvPr/>
        </p:nvSpPr>
        <p:spPr>
          <a:xfrm>
            <a:off x="8831580" y="2891027"/>
            <a:ext cx="624840" cy="707390"/>
          </a:xfrm>
          <a:custGeom>
            <a:avLst/>
            <a:gdLst/>
            <a:ahLst/>
            <a:cxnLst/>
            <a:rect l="l" t="t" r="r" b="b"/>
            <a:pathLst>
              <a:path w="624840" h="707389">
                <a:moveTo>
                  <a:pt x="541020" y="320802"/>
                </a:moveTo>
                <a:lnTo>
                  <a:pt x="539369" y="312877"/>
                </a:lnTo>
                <a:lnTo>
                  <a:pt x="534924" y="306324"/>
                </a:lnTo>
                <a:lnTo>
                  <a:pt x="528370" y="301879"/>
                </a:lnTo>
                <a:lnTo>
                  <a:pt x="520446" y="300228"/>
                </a:lnTo>
                <a:lnTo>
                  <a:pt x="512508" y="301879"/>
                </a:lnTo>
                <a:lnTo>
                  <a:pt x="505968" y="306324"/>
                </a:lnTo>
                <a:lnTo>
                  <a:pt x="501510" y="312877"/>
                </a:lnTo>
                <a:lnTo>
                  <a:pt x="499872" y="320802"/>
                </a:lnTo>
                <a:lnTo>
                  <a:pt x="501510" y="328739"/>
                </a:lnTo>
                <a:lnTo>
                  <a:pt x="505968" y="335280"/>
                </a:lnTo>
                <a:lnTo>
                  <a:pt x="512508" y="339737"/>
                </a:lnTo>
                <a:lnTo>
                  <a:pt x="520446" y="341376"/>
                </a:lnTo>
                <a:lnTo>
                  <a:pt x="528370" y="339737"/>
                </a:lnTo>
                <a:lnTo>
                  <a:pt x="534924" y="335280"/>
                </a:lnTo>
                <a:lnTo>
                  <a:pt x="539369" y="328739"/>
                </a:lnTo>
                <a:lnTo>
                  <a:pt x="541020" y="320802"/>
                </a:lnTo>
                <a:close/>
              </a:path>
              <a:path w="624840" h="707389">
                <a:moveTo>
                  <a:pt x="624840" y="318643"/>
                </a:moveTo>
                <a:lnTo>
                  <a:pt x="616572" y="278612"/>
                </a:lnTo>
                <a:lnTo>
                  <a:pt x="604062" y="260223"/>
                </a:lnTo>
                <a:lnTo>
                  <a:pt x="594131" y="245643"/>
                </a:lnTo>
                <a:lnTo>
                  <a:pt x="583311" y="238328"/>
                </a:lnTo>
                <a:lnTo>
                  <a:pt x="583311" y="320548"/>
                </a:lnTo>
                <a:lnTo>
                  <a:pt x="578345" y="344639"/>
                </a:lnTo>
                <a:lnTo>
                  <a:pt x="564896" y="364426"/>
                </a:lnTo>
                <a:lnTo>
                  <a:pt x="545045" y="377850"/>
                </a:lnTo>
                <a:lnTo>
                  <a:pt x="520954" y="382778"/>
                </a:lnTo>
                <a:lnTo>
                  <a:pt x="496417" y="377850"/>
                </a:lnTo>
                <a:lnTo>
                  <a:pt x="477354" y="364426"/>
                </a:lnTo>
                <a:lnTo>
                  <a:pt x="465010" y="344639"/>
                </a:lnTo>
                <a:lnTo>
                  <a:pt x="460629" y="320548"/>
                </a:lnTo>
                <a:lnTo>
                  <a:pt x="465543" y="297624"/>
                </a:lnTo>
                <a:lnTo>
                  <a:pt x="478777" y="278384"/>
                </a:lnTo>
                <a:lnTo>
                  <a:pt x="498017" y="265150"/>
                </a:lnTo>
                <a:lnTo>
                  <a:pt x="520954" y="260223"/>
                </a:lnTo>
                <a:lnTo>
                  <a:pt x="545858" y="265150"/>
                </a:lnTo>
                <a:lnTo>
                  <a:pt x="565607" y="278384"/>
                </a:lnTo>
                <a:lnTo>
                  <a:pt x="578612" y="297624"/>
                </a:lnTo>
                <a:lnTo>
                  <a:pt x="583311" y="320548"/>
                </a:lnTo>
                <a:lnTo>
                  <a:pt x="583311" y="238328"/>
                </a:lnTo>
                <a:lnTo>
                  <a:pt x="561073" y="223266"/>
                </a:lnTo>
                <a:lnTo>
                  <a:pt x="520954" y="215011"/>
                </a:lnTo>
                <a:lnTo>
                  <a:pt x="480898" y="223266"/>
                </a:lnTo>
                <a:lnTo>
                  <a:pt x="447878" y="245643"/>
                </a:lnTo>
                <a:lnTo>
                  <a:pt x="425450" y="278612"/>
                </a:lnTo>
                <a:lnTo>
                  <a:pt x="417195" y="318643"/>
                </a:lnTo>
                <a:lnTo>
                  <a:pt x="423519" y="353656"/>
                </a:lnTo>
                <a:lnTo>
                  <a:pt x="441020" y="383730"/>
                </a:lnTo>
                <a:lnTo>
                  <a:pt x="467334" y="406717"/>
                </a:lnTo>
                <a:lnTo>
                  <a:pt x="500253" y="420497"/>
                </a:lnTo>
                <a:lnTo>
                  <a:pt x="500253" y="526161"/>
                </a:lnTo>
                <a:lnTo>
                  <a:pt x="492734" y="571627"/>
                </a:lnTo>
                <a:lnTo>
                  <a:pt x="471805" y="611403"/>
                </a:lnTo>
                <a:lnTo>
                  <a:pt x="439928" y="642937"/>
                </a:lnTo>
                <a:lnTo>
                  <a:pt x="399529" y="663714"/>
                </a:lnTo>
                <a:lnTo>
                  <a:pt x="353060" y="671195"/>
                </a:lnTo>
                <a:lnTo>
                  <a:pt x="307454" y="663714"/>
                </a:lnTo>
                <a:lnTo>
                  <a:pt x="267576" y="642937"/>
                </a:lnTo>
                <a:lnTo>
                  <a:pt x="235966" y="611403"/>
                </a:lnTo>
                <a:lnTo>
                  <a:pt x="215138" y="571627"/>
                </a:lnTo>
                <a:lnTo>
                  <a:pt x="207645" y="526161"/>
                </a:lnTo>
                <a:lnTo>
                  <a:pt x="207645" y="499745"/>
                </a:lnTo>
                <a:lnTo>
                  <a:pt x="233857" y="495134"/>
                </a:lnTo>
                <a:lnTo>
                  <a:pt x="258635" y="486981"/>
                </a:lnTo>
                <a:lnTo>
                  <a:pt x="281965" y="475322"/>
                </a:lnTo>
                <a:lnTo>
                  <a:pt x="303911" y="460121"/>
                </a:lnTo>
                <a:lnTo>
                  <a:pt x="306082" y="457962"/>
                </a:lnTo>
                <a:lnTo>
                  <a:pt x="334238" y="429983"/>
                </a:lnTo>
                <a:lnTo>
                  <a:pt x="356781" y="394360"/>
                </a:lnTo>
                <a:lnTo>
                  <a:pt x="370827" y="354850"/>
                </a:lnTo>
                <a:lnTo>
                  <a:pt x="373037" y="335661"/>
                </a:lnTo>
                <a:lnTo>
                  <a:pt x="375666" y="313055"/>
                </a:lnTo>
                <a:lnTo>
                  <a:pt x="375666" y="294259"/>
                </a:lnTo>
                <a:lnTo>
                  <a:pt x="375666" y="231902"/>
                </a:lnTo>
                <a:lnTo>
                  <a:pt x="372656" y="213106"/>
                </a:lnTo>
                <a:lnTo>
                  <a:pt x="372592" y="212712"/>
                </a:lnTo>
                <a:lnTo>
                  <a:pt x="363855" y="195414"/>
                </a:lnTo>
                <a:lnTo>
                  <a:pt x="350151" y="181279"/>
                </a:lnTo>
                <a:lnTo>
                  <a:pt x="334137" y="172618"/>
                </a:lnTo>
                <a:lnTo>
                  <a:pt x="334137" y="233807"/>
                </a:lnTo>
                <a:lnTo>
                  <a:pt x="334137" y="294259"/>
                </a:lnTo>
                <a:lnTo>
                  <a:pt x="328422" y="294259"/>
                </a:lnTo>
                <a:lnTo>
                  <a:pt x="328422" y="335661"/>
                </a:lnTo>
                <a:lnTo>
                  <a:pt x="321754" y="361188"/>
                </a:lnTo>
                <a:lnTo>
                  <a:pt x="294195" y="408051"/>
                </a:lnTo>
                <a:lnTo>
                  <a:pt x="252628" y="440067"/>
                </a:lnTo>
                <a:lnTo>
                  <a:pt x="206260" y="455968"/>
                </a:lnTo>
                <a:lnTo>
                  <a:pt x="181864" y="457962"/>
                </a:lnTo>
                <a:lnTo>
                  <a:pt x="173672" y="457746"/>
                </a:lnTo>
                <a:lnTo>
                  <a:pt x="112979" y="439597"/>
                </a:lnTo>
                <a:lnTo>
                  <a:pt x="82359" y="413664"/>
                </a:lnTo>
                <a:lnTo>
                  <a:pt x="59156" y="378879"/>
                </a:lnTo>
                <a:lnTo>
                  <a:pt x="45339" y="337566"/>
                </a:lnTo>
                <a:lnTo>
                  <a:pt x="84963" y="337566"/>
                </a:lnTo>
                <a:lnTo>
                  <a:pt x="88861" y="351599"/>
                </a:lnTo>
                <a:lnTo>
                  <a:pt x="94881" y="365125"/>
                </a:lnTo>
                <a:lnTo>
                  <a:pt x="128790" y="401434"/>
                </a:lnTo>
                <a:lnTo>
                  <a:pt x="166090" y="418147"/>
                </a:lnTo>
                <a:lnTo>
                  <a:pt x="186817" y="420497"/>
                </a:lnTo>
                <a:lnTo>
                  <a:pt x="198247" y="420497"/>
                </a:lnTo>
                <a:lnTo>
                  <a:pt x="202057" y="416687"/>
                </a:lnTo>
                <a:lnTo>
                  <a:pt x="231965" y="406717"/>
                </a:lnTo>
                <a:lnTo>
                  <a:pt x="256247" y="388937"/>
                </a:lnTo>
                <a:lnTo>
                  <a:pt x="266395" y="375285"/>
                </a:lnTo>
                <a:lnTo>
                  <a:pt x="274205" y="364794"/>
                </a:lnTo>
                <a:lnTo>
                  <a:pt x="285115" y="335661"/>
                </a:lnTo>
                <a:lnTo>
                  <a:pt x="328422" y="335661"/>
                </a:lnTo>
                <a:lnTo>
                  <a:pt x="328422" y="294259"/>
                </a:lnTo>
                <a:lnTo>
                  <a:pt x="292608" y="294259"/>
                </a:lnTo>
                <a:lnTo>
                  <a:pt x="292608" y="233807"/>
                </a:lnTo>
                <a:lnTo>
                  <a:pt x="294246" y="225806"/>
                </a:lnTo>
                <a:lnTo>
                  <a:pt x="298716" y="219227"/>
                </a:lnTo>
                <a:lnTo>
                  <a:pt x="305295" y="214757"/>
                </a:lnTo>
                <a:lnTo>
                  <a:pt x="313309" y="213106"/>
                </a:lnTo>
                <a:lnTo>
                  <a:pt x="321322" y="214757"/>
                </a:lnTo>
                <a:lnTo>
                  <a:pt x="327952" y="219227"/>
                </a:lnTo>
                <a:lnTo>
                  <a:pt x="332460" y="225806"/>
                </a:lnTo>
                <a:lnTo>
                  <a:pt x="334137" y="233807"/>
                </a:lnTo>
                <a:lnTo>
                  <a:pt x="334137" y="172618"/>
                </a:lnTo>
                <a:lnTo>
                  <a:pt x="332232" y="171577"/>
                </a:lnTo>
                <a:lnTo>
                  <a:pt x="332232" y="105664"/>
                </a:lnTo>
                <a:lnTo>
                  <a:pt x="327901" y="84836"/>
                </a:lnTo>
                <a:lnTo>
                  <a:pt x="327304" y="81940"/>
                </a:lnTo>
                <a:lnTo>
                  <a:pt x="314045" y="62788"/>
                </a:lnTo>
                <a:lnTo>
                  <a:pt x="294779" y="49999"/>
                </a:lnTo>
                <a:lnTo>
                  <a:pt x="271780" y="45339"/>
                </a:lnTo>
                <a:lnTo>
                  <a:pt x="249174" y="45339"/>
                </a:lnTo>
                <a:lnTo>
                  <a:pt x="249174" y="24511"/>
                </a:lnTo>
                <a:lnTo>
                  <a:pt x="247523" y="15468"/>
                </a:lnTo>
                <a:lnTo>
                  <a:pt x="243052" y="8305"/>
                </a:lnTo>
                <a:lnTo>
                  <a:pt x="236474" y="3606"/>
                </a:lnTo>
                <a:lnTo>
                  <a:pt x="228473" y="1905"/>
                </a:lnTo>
                <a:lnTo>
                  <a:pt x="220446" y="3606"/>
                </a:lnTo>
                <a:lnTo>
                  <a:pt x="213817" y="8305"/>
                </a:lnTo>
                <a:lnTo>
                  <a:pt x="209308" y="15468"/>
                </a:lnTo>
                <a:lnTo>
                  <a:pt x="207645" y="24511"/>
                </a:lnTo>
                <a:lnTo>
                  <a:pt x="207645" y="105664"/>
                </a:lnTo>
                <a:lnTo>
                  <a:pt x="209308" y="114769"/>
                </a:lnTo>
                <a:lnTo>
                  <a:pt x="213817" y="121920"/>
                </a:lnTo>
                <a:lnTo>
                  <a:pt x="220446" y="126606"/>
                </a:lnTo>
                <a:lnTo>
                  <a:pt x="228473" y="128270"/>
                </a:lnTo>
                <a:lnTo>
                  <a:pt x="236474" y="126606"/>
                </a:lnTo>
                <a:lnTo>
                  <a:pt x="243052" y="121920"/>
                </a:lnTo>
                <a:lnTo>
                  <a:pt x="247523" y="114769"/>
                </a:lnTo>
                <a:lnTo>
                  <a:pt x="249174" y="105664"/>
                </a:lnTo>
                <a:lnTo>
                  <a:pt x="249174" y="84836"/>
                </a:lnTo>
                <a:lnTo>
                  <a:pt x="271780" y="84836"/>
                </a:lnTo>
                <a:lnTo>
                  <a:pt x="279844" y="86512"/>
                </a:lnTo>
                <a:lnTo>
                  <a:pt x="286473" y="91020"/>
                </a:lnTo>
                <a:lnTo>
                  <a:pt x="290957" y="97650"/>
                </a:lnTo>
                <a:lnTo>
                  <a:pt x="292608" y="105664"/>
                </a:lnTo>
                <a:lnTo>
                  <a:pt x="292608" y="171577"/>
                </a:lnTo>
                <a:lnTo>
                  <a:pt x="275475" y="181013"/>
                </a:lnTo>
                <a:lnTo>
                  <a:pt x="261696" y="194691"/>
                </a:lnTo>
                <a:lnTo>
                  <a:pt x="252501" y="211912"/>
                </a:lnTo>
                <a:lnTo>
                  <a:pt x="249174" y="231902"/>
                </a:lnTo>
                <a:lnTo>
                  <a:pt x="249174" y="309245"/>
                </a:lnTo>
                <a:lnTo>
                  <a:pt x="245465" y="332270"/>
                </a:lnTo>
                <a:lnTo>
                  <a:pt x="235038" y="352132"/>
                </a:lnTo>
                <a:lnTo>
                  <a:pt x="218948" y="367068"/>
                </a:lnTo>
                <a:lnTo>
                  <a:pt x="198247" y="375285"/>
                </a:lnTo>
                <a:lnTo>
                  <a:pt x="188849" y="375285"/>
                </a:lnTo>
                <a:lnTo>
                  <a:pt x="143510" y="356362"/>
                </a:lnTo>
                <a:lnTo>
                  <a:pt x="130708" y="337566"/>
                </a:lnTo>
                <a:lnTo>
                  <a:pt x="129806" y="335902"/>
                </a:lnTo>
                <a:lnTo>
                  <a:pt x="125945" y="323811"/>
                </a:lnTo>
                <a:lnTo>
                  <a:pt x="124587" y="311150"/>
                </a:lnTo>
                <a:lnTo>
                  <a:pt x="124587" y="294259"/>
                </a:lnTo>
                <a:lnTo>
                  <a:pt x="124587" y="228219"/>
                </a:lnTo>
                <a:lnTo>
                  <a:pt x="122047" y="213106"/>
                </a:lnTo>
                <a:lnTo>
                  <a:pt x="121539" y="210070"/>
                </a:lnTo>
                <a:lnTo>
                  <a:pt x="113004" y="193332"/>
                </a:lnTo>
                <a:lnTo>
                  <a:pt x="99885" y="179400"/>
                </a:lnTo>
                <a:lnTo>
                  <a:pt x="84963" y="170776"/>
                </a:lnTo>
                <a:lnTo>
                  <a:pt x="84963" y="233807"/>
                </a:lnTo>
                <a:lnTo>
                  <a:pt x="84963" y="294259"/>
                </a:lnTo>
                <a:lnTo>
                  <a:pt x="41529" y="294259"/>
                </a:lnTo>
                <a:lnTo>
                  <a:pt x="41529" y="233807"/>
                </a:lnTo>
                <a:lnTo>
                  <a:pt x="43205" y="225806"/>
                </a:lnTo>
                <a:lnTo>
                  <a:pt x="47891" y="219227"/>
                </a:lnTo>
                <a:lnTo>
                  <a:pt x="55079" y="214757"/>
                </a:lnTo>
                <a:lnTo>
                  <a:pt x="64262" y="213106"/>
                </a:lnTo>
                <a:lnTo>
                  <a:pt x="72263" y="214757"/>
                </a:lnTo>
                <a:lnTo>
                  <a:pt x="78841" y="219227"/>
                </a:lnTo>
                <a:lnTo>
                  <a:pt x="83312" y="225806"/>
                </a:lnTo>
                <a:lnTo>
                  <a:pt x="84963" y="233807"/>
                </a:lnTo>
                <a:lnTo>
                  <a:pt x="84963" y="170776"/>
                </a:lnTo>
                <a:lnTo>
                  <a:pt x="83058" y="169672"/>
                </a:lnTo>
                <a:lnTo>
                  <a:pt x="83058" y="103759"/>
                </a:lnTo>
                <a:lnTo>
                  <a:pt x="84696" y="95758"/>
                </a:lnTo>
                <a:lnTo>
                  <a:pt x="89179" y="89179"/>
                </a:lnTo>
                <a:lnTo>
                  <a:pt x="95808" y="84709"/>
                </a:lnTo>
                <a:lnTo>
                  <a:pt x="103886" y="83058"/>
                </a:lnTo>
                <a:lnTo>
                  <a:pt x="124587" y="83058"/>
                </a:lnTo>
                <a:lnTo>
                  <a:pt x="124587" y="103759"/>
                </a:lnTo>
                <a:lnTo>
                  <a:pt x="126225" y="111772"/>
                </a:lnTo>
                <a:lnTo>
                  <a:pt x="130695" y="118351"/>
                </a:lnTo>
                <a:lnTo>
                  <a:pt x="137274" y="122821"/>
                </a:lnTo>
                <a:lnTo>
                  <a:pt x="145288" y="124460"/>
                </a:lnTo>
                <a:lnTo>
                  <a:pt x="154457" y="122821"/>
                </a:lnTo>
                <a:lnTo>
                  <a:pt x="161645" y="118351"/>
                </a:lnTo>
                <a:lnTo>
                  <a:pt x="166331" y="111772"/>
                </a:lnTo>
                <a:lnTo>
                  <a:pt x="168021" y="103759"/>
                </a:lnTo>
                <a:lnTo>
                  <a:pt x="168021" y="83058"/>
                </a:lnTo>
                <a:lnTo>
                  <a:pt x="168021" y="20828"/>
                </a:lnTo>
                <a:lnTo>
                  <a:pt x="166331" y="12763"/>
                </a:lnTo>
                <a:lnTo>
                  <a:pt x="161645" y="6134"/>
                </a:lnTo>
                <a:lnTo>
                  <a:pt x="154457" y="1651"/>
                </a:lnTo>
                <a:lnTo>
                  <a:pt x="145288" y="0"/>
                </a:lnTo>
                <a:lnTo>
                  <a:pt x="137274" y="1651"/>
                </a:lnTo>
                <a:lnTo>
                  <a:pt x="130695" y="6134"/>
                </a:lnTo>
                <a:lnTo>
                  <a:pt x="126225" y="12763"/>
                </a:lnTo>
                <a:lnTo>
                  <a:pt x="124587" y="20828"/>
                </a:lnTo>
                <a:lnTo>
                  <a:pt x="124587" y="43434"/>
                </a:lnTo>
                <a:lnTo>
                  <a:pt x="103886" y="43434"/>
                </a:lnTo>
                <a:lnTo>
                  <a:pt x="78968" y="48361"/>
                </a:lnTo>
                <a:lnTo>
                  <a:pt x="59220" y="61595"/>
                </a:lnTo>
                <a:lnTo>
                  <a:pt x="46215" y="80835"/>
                </a:lnTo>
                <a:lnTo>
                  <a:pt x="41529" y="103759"/>
                </a:lnTo>
                <a:lnTo>
                  <a:pt x="41529" y="169672"/>
                </a:lnTo>
                <a:lnTo>
                  <a:pt x="25501" y="178866"/>
                </a:lnTo>
                <a:lnTo>
                  <a:pt x="12280" y="191897"/>
                </a:lnTo>
                <a:lnTo>
                  <a:pt x="3302" y="208470"/>
                </a:lnTo>
                <a:lnTo>
                  <a:pt x="0" y="228219"/>
                </a:lnTo>
                <a:lnTo>
                  <a:pt x="0" y="313055"/>
                </a:lnTo>
                <a:lnTo>
                  <a:pt x="12039" y="371970"/>
                </a:lnTo>
                <a:lnTo>
                  <a:pt x="39624" y="422402"/>
                </a:lnTo>
                <a:lnTo>
                  <a:pt x="85890" y="466458"/>
                </a:lnTo>
                <a:lnTo>
                  <a:pt x="143510" y="492125"/>
                </a:lnTo>
                <a:lnTo>
                  <a:pt x="151003" y="495935"/>
                </a:lnTo>
                <a:lnTo>
                  <a:pt x="160401" y="495935"/>
                </a:lnTo>
                <a:lnTo>
                  <a:pt x="168021" y="497840"/>
                </a:lnTo>
                <a:lnTo>
                  <a:pt x="168021" y="520446"/>
                </a:lnTo>
                <a:lnTo>
                  <a:pt x="174777" y="570268"/>
                </a:lnTo>
                <a:lnTo>
                  <a:pt x="193751" y="614908"/>
                </a:lnTo>
                <a:lnTo>
                  <a:pt x="223012" y="652653"/>
                </a:lnTo>
                <a:lnTo>
                  <a:pt x="260604" y="681774"/>
                </a:lnTo>
                <a:lnTo>
                  <a:pt x="304596" y="700506"/>
                </a:lnTo>
                <a:lnTo>
                  <a:pt x="353060" y="707136"/>
                </a:lnTo>
                <a:lnTo>
                  <a:pt x="402920" y="700379"/>
                </a:lnTo>
                <a:lnTo>
                  <a:pt x="447598" y="681342"/>
                </a:lnTo>
                <a:lnTo>
                  <a:pt x="485368" y="651941"/>
                </a:lnTo>
                <a:lnTo>
                  <a:pt x="514489" y="614070"/>
                </a:lnTo>
                <a:lnTo>
                  <a:pt x="533234" y="569607"/>
                </a:lnTo>
                <a:lnTo>
                  <a:pt x="539877" y="520446"/>
                </a:lnTo>
                <a:lnTo>
                  <a:pt x="539877" y="414909"/>
                </a:lnTo>
                <a:lnTo>
                  <a:pt x="573824" y="404622"/>
                </a:lnTo>
                <a:lnTo>
                  <a:pt x="600748" y="383717"/>
                </a:lnTo>
                <a:lnTo>
                  <a:pt x="601306" y="382778"/>
                </a:lnTo>
                <a:lnTo>
                  <a:pt x="618451" y="354368"/>
                </a:lnTo>
                <a:lnTo>
                  <a:pt x="624840" y="318643"/>
                </a:lnTo>
                <a:close/>
              </a:path>
            </a:pathLst>
          </a:custGeom>
          <a:solidFill>
            <a:srgbClr val="44536A"/>
          </a:solidFill>
        </p:spPr>
        <p:txBody>
          <a:bodyPr wrap="square" lIns="0" tIns="0" rIns="0" bIns="0" rtlCol="0"/>
          <a:lstStyle/>
          <a:p>
            <a:endParaRPr/>
          </a:p>
        </p:txBody>
      </p:sp>
      <p:sp>
        <p:nvSpPr>
          <p:cNvPr id="7" name="object 7"/>
          <p:cNvSpPr/>
          <p:nvPr/>
        </p:nvSpPr>
        <p:spPr>
          <a:xfrm>
            <a:off x="6778752" y="4680203"/>
            <a:ext cx="707390" cy="710565"/>
          </a:xfrm>
          <a:custGeom>
            <a:avLst/>
            <a:gdLst/>
            <a:ahLst/>
            <a:cxnLst/>
            <a:rect l="l" t="t" r="r" b="b"/>
            <a:pathLst>
              <a:path w="707390" h="710564">
                <a:moveTo>
                  <a:pt x="519684" y="312166"/>
                </a:moveTo>
                <a:lnTo>
                  <a:pt x="518033" y="304190"/>
                </a:lnTo>
                <a:lnTo>
                  <a:pt x="513562" y="297649"/>
                </a:lnTo>
                <a:lnTo>
                  <a:pt x="506984" y="293217"/>
                </a:lnTo>
                <a:lnTo>
                  <a:pt x="498983" y="291592"/>
                </a:lnTo>
                <a:lnTo>
                  <a:pt x="478282" y="291592"/>
                </a:lnTo>
                <a:lnTo>
                  <a:pt x="478282" y="330962"/>
                </a:lnTo>
                <a:lnTo>
                  <a:pt x="478282" y="372364"/>
                </a:lnTo>
                <a:lnTo>
                  <a:pt x="416306" y="372364"/>
                </a:lnTo>
                <a:lnTo>
                  <a:pt x="408292" y="374040"/>
                </a:lnTo>
                <a:lnTo>
                  <a:pt x="401713" y="378714"/>
                </a:lnTo>
                <a:lnTo>
                  <a:pt x="397243" y="385876"/>
                </a:lnTo>
                <a:lnTo>
                  <a:pt x="395605" y="394970"/>
                </a:lnTo>
                <a:lnTo>
                  <a:pt x="395605" y="455041"/>
                </a:lnTo>
                <a:lnTo>
                  <a:pt x="352425" y="455041"/>
                </a:lnTo>
                <a:lnTo>
                  <a:pt x="352425" y="394970"/>
                </a:lnTo>
                <a:lnTo>
                  <a:pt x="350761" y="385876"/>
                </a:lnTo>
                <a:lnTo>
                  <a:pt x="346265" y="378714"/>
                </a:lnTo>
                <a:lnTo>
                  <a:pt x="339661" y="374040"/>
                </a:lnTo>
                <a:lnTo>
                  <a:pt x="331724" y="372364"/>
                </a:lnTo>
                <a:lnTo>
                  <a:pt x="269621" y="372364"/>
                </a:lnTo>
                <a:lnTo>
                  <a:pt x="269621" y="330962"/>
                </a:lnTo>
                <a:lnTo>
                  <a:pt x="331724" y="330962"/>
                </a:lnTo>
                <a:lnTo>
                  <a:pt x="339661" y="329298"/>
                </a:lnTo>
                <a:lnTo>
                  <a:pt x="346265" y="324637"/>
                </a:lnTo>
                <a:lnTo>
                  <a:pt x="350761" y="317525"/>
                </a:lnTo>
                <a:lnTo>
                  <a:pt x="352425" y="308483"/>
                </a:lnTo>
                <a:lnTo>
                  <a:pt x="352425" y="248285"/>
                </a:lnTo>
                <a:lnTo>
                  <a:pt x="395605" y="248285"/>
                </a:lnTo>
                <a:lnTo>
                  <a:pt x="395605" y="308483"/>
                </a:lnTo>
                <a:lnTo>
                  <a:pt x="397243" y="317525"/>
                </a:lnTo>
                <a:lnTo>
                  <a:pt x="401713" y="324637"/>
                </a:lnTo>
                <a:lnTo>
                  <a:pt x="408292" y="329298"/>
                </a:lnTo>
                <a:lnTo>
                  <a:pt x="416306" y="330962"/>
                </a:lnTo>
                <a:lnTo>
                  <a:pt x="478282" y="330962"/>
                </a:lnTo>
                <a:lnTo>
                  <a:pt x="478282" y="291592"/>
                </a:lnTo>
                <a:lnTo>
                  <a:pt x="436880" y="291592"/>
                </a:lnTo>
                <a:lnTo>
                  <a:pt x="436880" y="248285"/>
                </a:lnTo>
                <a:lnTo>
                  <a:pt x="436880" y="229489"/>
                </a:lnTo>
                <a:lnTo>
                  <a:pt x="435254" y="221488"/>
                </a:lnTo>
                <a:lnTo>
                  <a:pt x="430822" y="214909"/>
                </a:lnTo>
                <a:lnTo>
                  <a:pt x="424281" y="210439"/>
                </a:lnTo>
                <a:lnTo>
                  <a:pt x="416306" y="208788"/>
                </a:lnTo>
                <a:lnTo>
                  <a:pt x="333629" y="208788"/>
                </a:lnTo>
                <a:lnTo>
                  <a:pt x="325615" y="210439"/>
                </a:lnTo>
                <a:lnTo>
                  <a:pt x="319036" y="214909"/>
                </a:lnTo>
                <a:lnTo>
                  <a:pt x="314566" y="221488"/>
                </a:lnTo>
                <a:lnTo>
                  <a:pt x="312928" y="229489"/>
                </a:lnTo>
                <a:lnTo>
                  <a:pt x="312928" y="291592"/>
                </a:lnTo>
                <a:lnTo>
                  <a:pt x="250825" y="291592"/>
                </a:lnTo>
                <a:lnTo>
                  <a:pt x="242811" y="293217"/>
                </a:lnTo>
                <a:lnTo>
                  <a:pt x="236232" y="297649"/>
                </a:lnTo>
                <a:lnTo>
                  <a:pt x="231762" y="304190"/>
                </a:lnTo>
                <a:lnTo>
                  <a:pt x="230124" y="312166"/>
                </a:lnTo>
                <a:lnTo>
                  <a:pt x="230124" y="394970"/>
                </a:lnTo>
                <a:lnTo>
                  <a:pt x="231762" y="402958"/>
                </a:lnTo>
                <a:lnTo>
                  <a:pt x="236232" y="409498"/>
                </a:lnTo>
                <a:lnTo>
                  <a:pt x="242811" y="413931"/>
                </a:lnTo>
                <a:lnTo>
                  <a:pt x="250825" y="415544"/>
                </a:lnTo>
                <a:lnTo>
                  <a:pt x="312928" y="415544"/>
                </a:lnTo>
                <a:lnTo>
                  <a:pt x="312928" y="475742"/>
                </a:lnTo>
                <a:lnTo>
                  <a:pt x="314566" y="484847"/>
                </a:lnTo>
                <a:lnTo>
                  <a:pt x="319036" y="491998"/>
                </a:lnTo>
                <a:lnTo>
                  <a:pt x="325615" y="496684"/>
                </a:lnTo>
                <a:lnTo>
                  <a:pt x="333629" y="498348"/>
                </a:lnTo>
                <a:lnTo>
                  <a:pt x="416306" y="498348"/>
                </a:lnTo>
                <a:lnTo>
                  <a:pt x="424281" y="496684"/>
                </a:lnTo>
                <a:lnTo>
                  <a:pt x="430822" y="491998"/>
                </a:lnTo>
                <a:lnTo>
                  <a:pt x="435254" y="484847"/>
                </a:lnTo>
                <a:lnTo>
                  <a:pt x="436880" y="475742"/>
                </a:lnTo>
                <a:lnTo>
                  <a:pt x="436880" y="455041"/>
                </a:lnTo>
                <a:lnTo>
                  <a:pt x="436880" y="415544"/>
                </a:lnTo>
                <a:lnTo>
                  <a:pt x="498983" y="415544"/>
                </a:lnTo>
                <a:lnTo>
                  <a:pt x="506984" y="413931"/>
                </a:lnTo>
                <a:lnTo>
                  <a:pt x="513562" y="409498"/>
                </a:lnTo>
                <a:lnTo>
                  <a:pt x="518033" y="402958"/>
                </a:lnTo>
                <a:lnTo>
                  <a:pt x="519684" y="394970"/>
                </a:lnTo>
                <a:lnTo>
                  <a:pt x="519684" y="312166"/>
                </a:lnTo>
                <a:close/>
              </a:path>
              <a:path w="707390" h="710564">
                <a:moveTo>
                  <a:pt x="707136" y="146939"/>
                </a:moveTo>
                <a:lnTo>
                  <a:pt x="699643" y="100545"/>
                </a:lnTo>
                <a:lnTo>
                  <a:pt x="678789" y="60223"/>
                </a:lnTo>
                <a:lnTo>
                  <a:pt x="663829" y="45224"/>
                </a:lnTo>
                <a:lnTo>
                  <a:pt x="663829" y="145034"/>
                </a:lnTo>
                <a:lnTo>
                  <a:pt x="663829" y="561340"/>
                </a:lnTo>
                <a:lnTo>
                  <a:pt x="655599" y="601383"/>
                </a:lnTo>
                <a:lnTo>
                  <a:pt x="633285" y="634352"/>
                </a:lnTo>
                <a:lnTo>
                  <a:pt x="600392" y="656729"/>
                </a:lnTo>
                <a:lnTo>
                  <a:pt x="560451" y="664972"/>
                </a:lnTo>
                <a:lnTo>
                  <a:pt x="144780" y="664972"/>
                </a:lnTo>
                <a:lnTo>
                  <a:pt x="104838" y="656729"/>
                </a:lnTo>
                <a:lnTo>
                  <a:pt x="71945" y="634352"/>
                </a:lnTo>
                <a:lnTo>
                  <a:pt x="49618" y="601383"/>
                </a:lnTo>
                <a:lnTo>
                  <a:pt x="41402" y="561340"/>
                </a:lnTo>
                <a:lnTo>
                  <a:pt x="41402" y="540639"/>
                </a:lnTo>
                <a:lnTo>
                  <a:pt x="84582" y="540639"/>
                </a:lnTo>
                <a:lnTo>
                  <a:pt x="84582" y="561340"/>
                </a:lnTo>
                <a:lnTo>
                  <a:pt x="89496" y="586181"/>
                </a:lnTo>
                <a:lnTo>
                  <a:pt x="102717" y="605891"/>
                </a:lnTo>
                <a:lnTo>
                  <a:pt x="121920" y="618883"/>
                </a:lnTo>
                <a:lnTo>
                  <a:pt x="144780" y="623570"/>
                </a:lnTo>
                <a:lnTo>
                  <a:pt x="560451" y="623570"/>
                </a:lnTo>
                <a:lnTo>
                  <a:pt x="604812" y="605180"/>
                </a:lnTo>
                <a:lnTo>
                  <a:pt x="622427" y="561340"/>
                </a:lnTo>
                <a:lnTo>
                  <a:pt x="622427" y="145034"/>
                </a:lnTo>
                <a:lnTo>
                  <a:pt x="604151" y="101561"/>
                </a:lnTo>
                <a:lnTo>
                  <a:pt x="583057" y="88988"/>
                </a:lnTo>
                <a:lnTo>
                  <a:pt x="583057" y="145034"/>
                </a:lnTo>
                <a:lnTo>
                  <a:pt x="583057" y="561340"/>
                </a:lnTo>
                <a:lnTo>
                  <a:pt x="581380" y="570445"/>
                </a:lnTo>
                <a:lnTo>
                  <a:pt x="576707" y="577608"/>
                </a:lnTo>
                <a:lnTo>
                  <a:pt x="569544" y="582282"/>
                </a:lnTo>
                <a:lnTo>
                  <a:pt x="560451" y="583946"/>
                </a:lnTo>
                <a:lnTo>
                  <a:pt x="144780" y="583946"/>
                </a:lnTo>
                <a:lnTo>
                  <a:pt x="136791" y="582282"/>
                </a:lnTo>
                <a:lnTo>
                  <a:pt x="130251" y="577608"/>
                </a:lnTo>
                <a:lnTo>
                  <a:pt x="125818" y="570445"/>
                </a:lnTo>
                <a:lnTo>
                  <a:pt x="124206" y="561340"/>
                </a:lnTo>
                <a:lnTo>
                  <a:pt x="124206" y="540639"/>
                </a:lnTo>
                <a:lnTo>
                  <a:pt x="124206" y="538734"/>
                </a:lnTo>
                <a:lnTo>
                  <a:pt x="140131" y="529628"/>
                </a:lnTo>
                <a:lnTo>
                  <a:pt x="153263" y="516623"/>
                </a:lnTo>
                <a:lnTo>
                  <a:pt x="161607" y="501142"/>
                </a:lnTo>
                <a:lnTo>
                  <a:pt x="162191" y="500075"/>
                </a:lnTo>
                <a:lnTo>
                  <a:pt x="165481" y="480314"/>
                </a:lnTo>
                <a:lnTo>
                  <a:pt x="162725" y="460336"/>
                </a:lnTo>
                <a:lnTo>
                  <a:pt x="161493" y="457708"/>
                </a:lnTo>
                <a:lnTo>
                  <a:pt x="154698" y="443166"/>
                </a:lnTo>
                <a:lnTo>
                  <a:pt x="141744" y="429526"/>
                </a:lnTo>
                <a:lnTo>
                  <a:pt x="124206" y="420116"/>
                </a:lnTo>
                <a:lnTo>
                  <a:pt x="124206" y="480314"/>
                </a:lnTo>
                <a:lnTo>
                  <a:pt x="122542" y="488340"/>
                </a:lnTo>
                <a:lnTo>
                  <a:pt x="118046" y="494969"/>
                </a:lnTo>
                <a:lnTo>
                  <a:pt x="111442" y="499478"/>
                </a:lnTo>
                <a:lnTo>
                  <a:pt x="103505" y="501142"/>
                </a:lnTo>
                <a:lnTo>
                  <a:pt x="41402" y="501142"/>
                </a:lnTo>
                <a:lnTo>
                  <a:pt x="41402" y="457708"/>
                </a:lnTo>
                <a:lnTo>
                  <a:pt x="103505" y="457708"/>
                </a:lnTo>
                <a:lnTo>
                  <a:pt x="111442" y="459409"/>
                </a:lnTo>
                <a:lnTo>
                  <a:pt x="118046" y="464108"/>
                </a:lnTo>
                <a:lnTo>
                  <a:pt x="122542" y="471271"/>
                </a:lnTo>
                <a:lnTo>
                  <a:pt x="124206" y="480314"/>
                </a:lnTo>
                <a:lnTo>
                  <a:pt x="124206" y="420116"/>
                </a:lnTo>
                <a:lnTo>
                  <a:pt x="124206" y="416306"/>
                </a:lnTo>
                <a:lnTo>
                  <a:pt x="124206" y="288290"/>
                </a:lnTo>
                <a:lnTo>
                  <a:pt x="124206" y="286385"/>
                </a:lnTo>
                <a:lnTo>
                  <a:pt x="140131" y="277266"/>
                </a:lnTo>
                <a:lnTo>
                  <a:pt x="153263" y="264223"/>
                </a:lnTo>
                <a:lnTo>
                  <a:pt x="161645" y="248666"/>
                </a:lnTo>
                <a:lnTo>
                  <a:pt x="162191" y="247675"/>
                </a:lnTo>
                <a:lnTo>
                  <a:pt x="165481" y="227965"/>
                </a:lnTo>
                <a:lnTo>
                  <a:pt x="162725" y="208229"/>
                </a:lnTo>
                <a:lnTo>
                  <a:pt x="162255" y="207264"/>
                </a:lnTo>
                <a:lnTo>
                  <a:pt x="154698" y="191706"/>
                </a:lnTo>
                <a:lnTo>
                  <a:pt x="141744" y="178714"/>
                </a:lnTo>
                <a:lnTo>
                  <a:pt x="124206" y="169545"/>
                </a:lnTo>
                <a:lnTo>
                  <a:pt x="124206" y="227965"/>
                </a:lnTo>
                <a:lnTo>
                  <a:pt x="122542" y="235978"/>
                </a:lnTo>
                <a:lnTo>
                  <a:pt x="118046" y="242557"/>
                </a:lnTo>
                <a:lnTo>
                  <a:pt x="111442" y="247027"/>
                </a:lnTo>
                <a:lnTo>
                  <a:pt x="103505" y="248666"/>
                </a:lnTo>
                <a:lnTo>
                  <a:pt x="84582" y="248666"/>
                </a:lnTo>
                <a:lnTo>
                  <a:pt x="84582" y="288290"/>
                </a:lnTo>
                <a:lnTo>
                  <a:pt x="84582" y="416306"/>
                </a:lnTo>
                <a:lnTo>
                  <a:pt x="41402" y="416306"/>
                </a:lnTo>
                <a:lnTo>
                  <a:pt x="41402" y="288290"/>
                </a:lnTo>
                <a:lnTo>
                  <a:pt x="84582" y="288290"/>
                </a:lnTo>
                <a:lnTo>
                  <a:pt x="84582" y="248666"/>
                </a:lnTo>
                <a:lnTo>
                  <a:pt x="41402" y="248666"/>
                </a:lnTo>
                <a:lnTo>
                  <a:pt x="41402" y="207264"/>
                </a:lnTo>
                <a:lnTo>
                  <a:pt x="103505" y="207264"/>
                </a:lnTo>
                <a:lnTo>
                  <a:pt x="111442" y="208915"/>
                </a:lnTo>
                <a:lnTo>
                  <a:pt x="118046" y="213385"/>
                </a:lnTo>
                <a:lnTo>
                  <a:pt x="122542" y="219964"/>
                </a:lnTo>
                <a:lnTo>
                  <a:pt x="124206" y="227965"/>
                </a:lnTo>
                <a:lnTo>
                  <a:pt x="124206" y="169545"/>
                </a:lnTo>
                <a:lnTo>
                  <a:pt x="124206" y="165735"/>
                </a:lnTo>
                <a:lnTo>
                  <a:pt x="124206" y="145034"/>
                </a:lnTo>
                <a:lnTo>
                  <a:pt x="125818" y="137033"/>
                </a:lnTo>
                <a:lnTo>
                  <a:pt x="130251" y="130454"/>
                </a:lnTo>
                <a:lnTo>
                  <a:pt x="136791" y="125984"/>
                </a:lnTo>
                <a:lnTo>
                  <a:pt x="144780" y="124333"/>
                </a:lnTo>
                <a:lnTo>
                  <a:pt x="560451" y="124333"/>
                </a:lnTo>
                <a:lnTo>
                  <a:pt x="569544" y="125984"/>
                </a:lnTo>
                <a:lnTo>
                  <a:pt x="576707" y="130454"/>
                </a:lnTo>
                <a:lnTo>
                  <a:pt x="581380" y="137033"/>
                </a:lnTo>
                <a:lnTo>
                  <a:pt x="583057" y="145034"/>
                </a:lnTo>
                <a:lnTo>
                  <a:pt x="583057" y="88988"/>
                </a:lnTo>
                <a:lnTo>
                  <a:pt x="560451" y="84836"/>
                </a:lnTo>
                <a:lnTo>
                  <a:pt x="144780" y="84836"/>
                </a:lnTo>
                <a:lnTo>
                  <a:pt x="120307" y="89750"/>
                </a:lnTo>
                <a:lnTo>
                  <a:pt x="101295" y="102933"/>
                </a:lnTo>
                <a:lnTo>
                  <a:pt x="88963" y="122135"/>
                </a:lnTo>
                <a:lnTo>
                  <a:pt x="84582" y="145034"/>
                </a:lnTo>
                <a:lnTo>
                  <a:pt x="84582" y="165735"/>
                </a:lnTo>
                <a:lnTo>
                  <a:pt x="41402" y="165735"/>
                </a:lnTo>
                <a:lnTo>
                  <a:pt x="41402" y="145034"/>
                </a:lnTo>
                <a:lnTo>
                  <a:pt x="49618" y="105029"/>
                </a:lnTo>
                <a:lnTo>
                  <a:pt x="71945" y="72097"/>
                </a:lnTo>
                <a:lnTo>
                  <a:pt x="104838" y="49758"/>
                </a:lnTo>
                <a:lnTo>
                  <a:pt x="144780" y="41529"/>
                </a:lnTo>
                <a:lnTo>
                  <a:pt x="560451" y="41529"/>
                </a:lnTo>
                <a:lnTo>
                  <a:pt x="600392" y="49758"/>
                </a:lnTo>
                <a:lnTo>
                  <a:pt x="633285" y="72097"/>
                </a:lnTo>
                <a:lnTo>
                  <a:pt x="655599" y="105029"/>
                </a:lnTo>
                <a:lnTo>
                  <a:pt x="663829" y="145034"/>
                </a:lnTo>
                <a:lnTo>
                  <a:pt x="663829" y="45224"/>
                </a:lnTo>
                <a:lnTo>
                  <a:pt x="660146" y="41529"/>
                </a:lnTo>
                <a:lnTo>
                  <a:pt x="647026" y="28397"/>
                </a:lnTo>
                <a:lnTo>
                  <a:pt x="606767" y="7505"/>
                </a:lnTo>
                <a:lnTo>
                  <a:pt x="560451" y="0"/>
                </a:lnTo>
                <a:lnTo>
                  <a:pt x="144780" y="0"/>
                </a:lnTo>
                <a:lnTo>
                  <a:pt x="99352" y="7505"/>
                </a:lnTo>
                <a:lnTo>
                  <a:pt x="59690" y="28270"/>
                </a:lnTo>
                <a:lnTo>
                  <a:pt x="28206" y="59804"/>
                </a:lnTo>
                <a:lnTo>
                  <a:pt x="7467" y="99568"/>
                </a:lnTo>
                <a:lnTo>
                  <a:pt x="0" y="145034"/>
                </a:lnTo>
                <a:lnTo>
                  <a:pt x="0" y="565150"/>
                </a:lnTo>
                <a:lnTo>
                  <a:pt x="7467" y="610616"/>
                </a:lnTo>
                <a:lnTo>
                  <a:pt x="28206" y="650392"/>
                </a:lnTo>
                <a:lnTo>
                  <a:pt x="59690" y="681926"/>
                </a:lnTo>
                <a:lnTo>
                  <a:pt x="99377" y="702703"/>
                </a:lnTo>
                <a:lnTo>
                  <a:pt x="144780" y="710184"/>
                </a:lnTo>
                <a:lnTo>
                  <a:pt x="560451" y="710184"/>
                </a:lnTo>
                <a:lnTo>
                  <a:pt x="606767" y="702703"/>
                </a:lnTo>
                <a:lnTo>
                  <a:pt x="647026" y="681926"/>
                </a:lnTo>
                <a:lnTo>
                  <a:pt x="664095" y="664972"/>
                </a:lnTo>
                <a:lnTo>
                  <a:pt x="678789" y="650392"/>
                </a:lnTo>
                <a:lnTo>
                  <a:pt x="699643" y="610616"/>
                </a:lnTo>
                <a:lnTo>
                  <a:pt x="707136" y="565150"/>
                </a:lnTo>
                <a:lnTo>
                  <a:pt x="707136" y="146939"/>
                </a:lnTo>
                <a:close/>
              </a:path>
            </a:pathLst>
          </a:custGeom>
          <a:solidFill>
            <a:srgbClr val="44536A"/>
          </a:solidFill>
        </p:spPr>
        <p:txBody>
          <a:bodyPr wrap="square" lIns="0" tIns="0" rIns="0" bIns="0" rtlCol="0"/>
          <a:lstStyle/>
          <a:p>
            <a:endParaRPr/>
          </a:p>
        </p:txBody>
      </p:sp>
      <p:sp>
        <p:nvSpPr>
          <p:cNvPr id="8" name="object 8"/>
          <p:cNvSpPr/>
          <p:nvPr/>
        </p:nvSpPr>
        <p:spPr>
          <a:xfrm>
            <a:off x="10680255" y="2837687"/>
            <a:ext cx="708660" cy="707390"/>
          </a:xfrm>
          <a:custGeom>
            <a:avLst/>
            <a:gdLst/>
            <a:ahLst/>
            <a:cxnLst/>
            <a:rect l="l" t="t" r="r" b="b"/>
            <a:pathLst>
              <a:path w="708659" h="707389">
                <a:moveTo>
                  <a:pt x="161124" y="534924"/>
                </a:moveTo>
                <a:lnTo>
                  <a:pt x="159715" y="527342"/>
                </a:lnTo>
                <a:lnTo>
                  <a:pt x="155511" y="520827"/>
                </a:lnTo>
                <a:lnTo>
                  <a:pt x="151828" y="517017"/>
                </a:lnTo>
                <a:lnTo>
                  <a:pt x="147256" y="515112"/>
                </a:lnTo>
                <a:lnTo>
                  <a:pt x="142430" y="515112"/>
                </a:lnTo>
                <a:lnTo>
                  <a:pt x="137477" y="515112"/>
                </a:lnTo>
                <a:lnTo>
                  <a:pt x="132397" y="517017"/>
                </a:lnTo>
                <a:lnTo>
                  <a:pt x="127825" y="520827"/>
                </a:lnTo>
                <a:lnTo>
                  <a:pt x="123609" y="527342"/>
                </a:lnTo>
                <a:lnTo>
                  <a:pt x="122199" y="534924"/>
                </a:lnTo>
                <a:lnTo>
                  <a:pt x="123609" y="542518"/>
                </a:lnTo>
                <a:lnTo>
                  <a:pt x="127825" y="549021"/>
                </a:lnTo>
                <a:lnTo>
                  <a:pt x="131508" y="552831"/>
                </a:lnTo>
                <a:lnTo>
                  <a:pt x="136588" y="554736"/>
                </a:lnTo>
                <a:lnTo>
                  <a:pt x="146748" y="554736"/>
                </a:lnTo>
                <a:lnTo>
                  <a:pt x="151828" y="552831"/>
                </a:lnTo>
                <a:lnTo>
                  <a:pt x="155511" y="549021"/>
                </a:lnTo>
                <a:lnTo>
                  <a:pt x="159715" y="542518"/>
                </a:lnTo>
                <a:lnTo>
                  <a:pt x="161124" y="534924"/>
                </a:lnTo>
                <a:close/>
              </a:path>
              <a:path w="708659" h="707389">
                <a:moveTo>
                  <a:pt x="251396" y="507746"/>
                </a:moveTo>
                <a:lnTo>
                  <a:pt x="249745" y="498462"/>
                </a:lnTo>
                <a:lnTo>
                  <a:pt x="245300" y="491147"/>
                </a:lnTo>
                <a:lnTo>
                  <a:pt x="238747" y="486359"/>
                </a:lnTo>
                <a:lnTo>
                  <a:pt x="230822" y="484632"/>
                </a:lnTo>
                <a:lnTo>
                  <a:pt x="222885" y="486359"/>
                </a:lnTo>
                <a:lnTo>
                  <a:pt x="216344" y="491147"/>
                </a:lnTo>
                <a:lnTo>
                  <a:pt x="211886" y="498462"/>
                </a:lnTo>
                <a:lnTo>
                  <a:pt x="210248" y="507746"/>
                </a:lnTo>
                <a:lnTo>
                  <a:pt x="211886" y="515874"/>
                </a:lnTo>
                <a:lnTo>
                  <a:pt x="216344" y="522579"/>
                </a:lnTo>
                <a:lnTo>
                  <a:pt x="222885" y="527151"/>
                </a:lnTo>
                <a:lnTo>
                  <a:pt x="230822" y="528828"/>
                </a:lnTo>
                <a:lnTo>
                  <a:pt x="238747" y="527151"/>
                </a:lnTo>
                <a:lnTo>
                  <a:pt x="245300" y="522579"/>
                </a:lnTo>
                <a:lnTo>
                  <a:pt x="249745" y="515874"/>
                </a:lnTo>
                <a:lnTo>
                  <a:pt x="251396" y="507746"/>
                </a:lnTo>
                <a:close/>
              </a:path>
              <a:path w="708659" h="707389">
                <a:moveTo>
                  <a:pt x="708596" y="208407"/>
                </a:moveTo>
                <a:lnTo>
                  <a:pt x="689800" y="163195"/>
                </a:lnTo>
                <a:lnTo>
                  <a:pt x="667194" y="140893"/>
                </a:lnTo>
                <a:lnTo>
                  <a:pt x="667194" y="202819"/>
                </a:lnTo>
                <a:lnTo>
                  <a:pt x="667194" y="212217"/>
                </a:lnTo>
                <a:lnTo>
                  <a:pt x="665289" y="217805"/>
                </a:lnTo>
                <a:lnTo>
                  <a:pt x="657796" y="225298"/>
                </a:lnTo>
                <a:lnTo>
                  <a:pt x="652081" y="227203"/>
                </a:lnTo>
                <a:lnTo>
                  <a:pt x="641286" y="227203"/>
                </a:lnTo>
                <a:lnTo>
                  <a:pt x="636079" y="225298"/>
                </a:lnTo>
                <a:lnTo>
                  <a:pt x="633285" y="221615"/>
                </a:lnTo>
                <a:lnTo>
                  <a:pt x="580580" y="169608"/>
                </a:lnTo>
                <a:lnTo>
                  <a:pt x="580580" y="242316"/>
                </a:lnTo>
                <a:lnTo>
                  <a:pt x="409384" y="415417"/>
                </a:lnTo>
                <a:lnTo>
                  <a:pt x="387616" y="399491"/>
                </a:lnTo>
                <a:lnTo>
                  <a:pt x="379285" y="395795"/>
                </a:lnTo>
                <a:lnTo>
                  <a:pt x="379285" y="445516"/>
                </a:lnTo>
                <a:lnTo>
                  <a:pt x="183451" y="641223"/>
                </a:lnTo>
                <a:lnTo>
                  <a:pt x="170040" y="651725"/>
                </a:lnTo>
                <a:lnTo>
                  <a:pt x="155422" y="659231"/>
                </a:lnTo>
                <a:lnTo>
                  <a:pt x="140030" y="663727"/>
                </a:lnTo>
                <a:lnTo>
                  <a:pt x="124269" y="665226"/>
                </a:lnTo>
                <a:lnTo>
                  <a:pt x="108419" y="663727"/>
                </a:lnTo>
                <a:lnTo>
                  <a:pt x="64960" y="641223"/>
                </a:lnTo>
                <a:lnTo>
                  <a:pt x="40957" y="581939"/>
                </a:lnTo>
                <a:lnTo>
                  <a:pt x="46951" y="550735"/>
                </a:lnTo>
                <a:lnTo>
                  <a:pt x="64960" y="522732"/>
                </a:lnTo>
                <a:lnTo>
                  <a:pt x="202374" y="387223"/>
                </a:lnTo>
                <a:lnTo>
                  <a:pt x="223507" y="401789"/>
                </a:lnTo>
                <a:lnTo>
                  <a:pt x="246900" y="413156"/>
                </a:lnTo>
                <a:lnTo>
                  <a:pt x="272211" y="420535"/>
                </a:lnTo>
                <a:lnTo>
                  <a:pt x="299148" y="423164"/>
                </a:lnTo>
                <a:lnTo>
                  <a:pt x="301307" y="423164"/>
                </a:lnTo>
                <a:lnTo>
                  <a:pt x="305879" y="422910"/>
                </a:lnTo>
                <a:lnTo>
                  <a:pt x="326593" y="424053"/>
                </a:lnTo>
                <a:lnTo>
                  <a:pt x="346100" y="427837"/>
                </a:lnTo>
                <a:lnTo>
                  <a:pt x="363842" y="434809"/>
                </a:lnTo>
                <a:lnTo>
                  <a:pt x="379285" y="445516"/>
                </a:lnTo>
                <a:lnTo>
                  <a:pt x="379285" y="395795"/>
                </a:lnTo>
                <a:lnTo>
                  <a:pt x="334987" y="381762"/>
                </a:lnTo>
                <a:lnTo>
                  <a:pt x="305879" y="379603"/>
                </a:lnTo>
                <a:lnTo>
                  <a:pt x="303974" y="379603"/>
                </a:lnTo>
                <a:lnTo>
                  <a:pt x="301688" y="379857"/>
                </a:lnTo>
                <a:lnTo>
                  <a:pt x="297243" y="379857"/>
                </a:lnTo>
                <a:lnTo>
                  <a:pt x="279425" y="378193"/>
                </a:lnTo>
                <a:lnTo>
                  <a:pt x="262331" y="373354"/>
                </a:lnTo>
                <a:lnTo>
                  <a:pt x="246494" y="365607"/>
                </a:lnTo>
                <a:lnTo>
                  <a:pt x="232473" y="355219"/>
                </a:lnTo>
                <a:lnTo>
                  <a:pt x="294576" y="295021"/>
                </a:lnTo>
                <a:lnTo>
                  <a:pt x="313372" y="313817"/>
                </a:lnTo>
                <a:lnTo>
                  <a:pt x="317182" y="315722"/>
                </a:lnTo>
                <a:lnTo>
                  <a:pt x="326453" y="315722"/>
                </a:lnTo>
                <a:lnTo>
                  <a:pt x="334073" y="313817"/>
                </a:lnTo>
                <a:lnTo>
                  <a:pt x="335978" y="308102"/>
                </a:lnTo>
                <a:lnTo>
                  <a:pt x="340182" y="302412"/>
                </a:lnTo>
                <a:lnTo>
                  <a:pt x="341541" y="295021"/>
                </a:lnTo>
                <a:lnTo>
                  <a:pt x="341591" y="294767"/>
                </a:lnTo>
                <a:lnTo>
                  <a:pt x="340182" y="286753"/>
                </a:lnTo>
                <a:lnTo>
                  <a:pt x="335978" y="279908"/>
                </a:lnTo>
                <a:lnTo>
                  <a:pt x="322770" y="266700"/>
                </a:lnTo>
                <a:lnTo>
                  <a:pt x="350964" y="238506"/>
                </a:lnTo>
                <a:lnTo>
                  <a:pt x="364172" y="251714"/>
                </a:lnTo>
                <a:lnTo>
                  <a:pt x="369887" y="257302"/>
                </a:lnTo>
                <a:lnTo>
                  <a:pt x="373570" y="259207"/>
                </a:lnTo>
                <a:lnTo>
                  <a:pt x="382968" y="259207"/>
                </a:lnTo>
                <a:lnTo>
                  <a:pt x="390588" y="257302"/>
                </a:lnTo>
                <a:lnTo>
                  <a:pt x="392366" y="251714"/>
                </a:lnTo>
                <a:lnTo>
                  <a:pt x="396646" y="245960"/>
                </a:lnTo>
                <a:lnTo>
                  <a:pt x="398030" y="238506"/>
                </a:lnTo>
                <a:lnTo>
                  <a:pt x="398081" y="238277"/>
                </a:lnTo>
                <a:lnTo>
                  <a:pt x="396646" y="230238"/>
                </a:lnTo>
                <a:lnTo>
                  <a:pt x="392366" y="223393"/>
                </a:lnTo>
                <a:lnTo>
                  <a:pt x="379285" y="210312"/>
                </a:lnTo>
                <a:lnTo>
                  <a:pt x="407479" y="182118"/>
                </a:lnTo>
                <a:lnTo>
                  <a:pt x="420687" y="195199"/>
                </a:lnTo>
                <a:lnTo>
                  <a:pt x="426275" y="200914"/>
                </a:lnTo>
                <a:lnTo>
                  <a:pt x="430085" y="202819"/>
                </a:lnTo>
                <a:lnTo>
                  <a:pt x="439483" y="202819"/>
                </a:lnTo>
                <a:lnTo>
                  <a:pt x="446976" y="200914"/>
                </a:lnTo>
                <a:lnTo>
                  <a:pt x="448881" y="195199"/>
                </a:lnTo>
                <a:lnTo>
                  <a:pt x="453085" y="189496"/>
                </a:lnTo>
                <a:lnTo>
                  <a:pt x="454444" y="182118"/>
                </a:lnTo>
                <a:lnTo>
                  <a:pt x="454494" y="181825"/>
                </a:lnTo>
                <a:lnTo>
                  <a:pt x="453085" y="173786"/>
                </a:lnTo>
                <a:lnTo>
                  <a:pt x="448881" y="167005"/>
                </a:lnTo>
                <a:lnTo>
                  <a:pt x="435673" y="153924"/>
                </a:lnTo>
                <a:lnTo>
                  <a:pt x="463867" y="125603"/>
                </a:lnTo>
                <a:lnTo>
                  <a:pt x="580580" y="242316"/>
                </a:lnTo>
                <a:lnTo>
                  <a:pt x="580580" y="169608"/>
                </a:lnTo>
                <a:lnTo>
                  <a:pt x="536003" y="125603"/>
                </a:lnTo>
                <a:lnTo>
                  <a:pt x="486473" y="76708"/>
                </a:lnTo>
                <a:lnTo>
                  <a:pt x="482790" y="70993"/>
                </a:lnTo>
                <a:lnTo>
                  <a:pt x="478980" y="67310"/>
                </a:lnTo>
                <a:lnTo>
                  <a:pt x="478980" y="57912"/>
                </a:lnTo>
                <a:lnTo>
                  <a:pt x="482790" y="50292"/>
                </a:lnTo>
                <a:lnTo>
                  <a:pt x="486473" y="48387"/>
                </a:lnTo>
                <a:lnTo>
                  <a:pt x="492188" y="42799"/>
                </a:lnTo>
                <a:lnTo>
                  <a:pt x="495871" y="40894"/>
                </a:lnTo>
                <a:lnTo>
                  <a:pt x="505269" y="40894"/>
                </a:lnTo>
                <a:lnTo>
                  <a:pt x="512889" y="42799"/>
                </a:lnTo>
                <a:lnTo>
                  <a:pt x="514794" y="48387"/>
                </a:lnTo>
                <a:lnTo>
                  <a:pt x="661479" y="193294"/>
                </a:lnTo>
                <a:lnTo>
                  <a:pt x="665289" y="199009"/>
                </a:lnTo>
                <a:lnTo>
                  <a:pt x="667194" y="202819"/>
                </a:lnTo>
                <a:lnTo>
                  <a:pt x="667194" y="140893"/>
                </a:lnTo>
                <a:lnTo>
                  <a:pt x="565886" y="40894"/>
                </a:lnTo>
                <a:lnTo>
                  <a:pt x="542988" y="18288"/>
                </a:lnTo>
                <a:lnTo>
                  <a:pt x="533781" y="10287"/>
                </a:lnTo>
                <a:lnTo>
                  <a:pt x="523379" y="4572"/>
                </a:lnTo>
                <a:lnTo>
                  <a:pt x="512140" y="1155"/>
                </a:lnTo>
                <a:lnTo>
                  <a:pt x="500443" y="0"/>
                </a:lnTo>
                <a:lnTo>
                  <a:pt x="488645" y="1155"/>
                </a:lnTo>
                <a:lnTo>
                  <a:pt x="448665" y="27724"/>
                </a:lnTo>
                <a:lnTo>
                  <a:pt x="437578" y="61595"/>
                </a:lnTo>
                <a:lnTo>
                  <a:pt x="437959" y="68643"/>
                </a:lnTo>
                <a:lnTo>
                  <a:pt x="439229" y="75526"/>
                </a:lnTo>
                <a:lnTo>
                  <a:pt x="441540" y="82054"/>
                </a:lnTo>
                <a:lnTo>
                  <a:pt x="445071" y="88011"/>
                </a:lnTo>
                <a:lnTo>
                  <a:pt x="36766" y="494411"/>
                </a:lnTo>
                <a:lnTo>
                  <a:pt x="9182" y="535813"/>
                </a:lnTo>
                <a:lnTo>
                  <a:pt x="0" y="582879"/>
                </a:lnTo>
                <a:lnTo>
                  <a:pt x="9182" y="629932"/>
                </a:lnTo>
                <a:lnTo>
                  <a:pt x="36766" y="671322"/>
                </a:lnTo>
                <a:lnTo>
                  <a:pt x="78816" y="698423"/>
                </a:lnTo>
                <a:lnTo>
                  <a:pt x="125158" y="707136"/>
                </a:lnTo>
                <a:lnTo>
                  <a:pt x="148742" y="704989"/>
                </a:lnTo>
                <a:lnTo>
                  <a:pt x="171272" y="698423"/>
                </a:lnTo>
                <a:lnTo>
                  <a:pt x="192392" y="687260"/>
                </a:lnTo>
                <a:lnTo>
                  <a:pt x="211772" y="671322"/>
                </a:lnTo>
                <a:lnTo>
                  <a:pt x="217868" y="665226"/>
                </a:lnTo>
                <a:lnTo>
                  <a:pt x="460184" y="422910"/>
                </a:lnTo>
                <a:lnTo>
                  <a:pt x="467677" y="415417"/>
                </a:lnTo>
                <a:lnTo>
                  <a:pt x="618299" y="264795"/>
                </a:lnTo>
                <a:lnTo>
                  <a:pt x="625043" y="267601"/>
                </a:lnTo>
                <a:lnTo>
                  <a:pt x="631444" y="270040"/>
                </a:lnTo>
                <a:lnTo>
                  <a:pt x="637832" y="271767"/>
                </a:lnTo>
                <a:lnTo>
                  <a:pt x="644588" y="272415"/>
                </a:lnTo>
                <a:lnTo>
                  <a:pt x="656920" y="271056"/>
                </a:lnTo>
                <a:lnTo>
                  <a:pt x="668566" y="267195"/>
                </a:lnTo>
                <a:lnTo>
                  <a:pt x="672973" y="264795"/>
                </a:lnTo>
                <a:lnTo>
                  <a:pt x="679538" y="261226"/>
                </a:lnTo>
                <a:lnTo>
                  <a:pt x="705129" y="227203"/>
                </a:lnTo>
                <a:lnTo>
                  <a:pt x="707237" y="220738"/>
                </a:lnTo>
                <a:lnTo>
                  <a:pt x="708596" y="208407"/>
                </a:lnTo>
                <a:close/>
              </a:path>
            </a:pathLst>
          </a:custGeom>
          <a:solidFill>
            <a:srgbClr val="44536A"/>
          </a:solidFill>
        </p:spPr>
        <p:txBody>
          <a:bodyPr wrap="square" lIns="0" tIns="0" rIns="0" bIns="0" rtlCol="0"/>
          <a:lstStyle/>
          <a:p>
            <a:endParaRPr/>
          </a:p>
        </p:txBody>
      </p:sp>
      <p:grpSp>
        <p:nvGrpSpPr>
          <p:cNvPr id="9" name="object 9"/>
          <p:cNvGrpSpPr/>
          <p:nvPr/>
        </p:nvGrpSpPr>
        <p:grpSpPr>
          <a:xfrm>
            <a:off x="8831580" y="4806696"/>
            <a:ext cx="713740" cy="462280"/>
            <a:chOff x="8831580" y="4806696"/>
            <a:chExt cx="713740" cy="462280"/>
          </a:xfrm>
        </p:grpSpPr>
        <p:pic>
          <p:nvPicPr>
            <p:cNvPr id="10" name="object 10"/>
            <p:cNvPicPr/>
            <p:nvPr/>
          </p:nvPicPr>
          <p:blipFill>
            <a:blip r:embed="rId3" cstate="print"/>
            <a:stretch>
              <a:fillRect/>
            </a:stretch>
          </p:blipFill>
          <p:spPr>
            <a:xfrm>
              <a:off x="9124188" y="4975860"/>
              <a:ext cx="85343" cy="85343"/>
            </a:xfrm>
            <a:prstGeom prst="rect">
              <a:avLst/>
            </a:prstGeom>
          </p:spPr>
        </p:pic>
        <p:sp>
          <p:nvSpPr>
            <p:cNvPr id="11" name="object 11"/>
            <p:cNvSpPr/>
            <p:nvPr/>
          </p:nvSpPr>
          <p:spPr>
            <a:xfrm>
              <a:off x="8831580" y="4806696"/>
              <a:ext cx="713740" cy="462280"/>
            </a:xfrm>
            <a:custGeom>
              <a:avLst/>
              <a:gdLst/>
              <a:ahLst/>
              <a:cxnLst/>
              <a:rect l="l" t="t" r="r" b="b"/>
              <a:pathLst>
                <a:path w="713740" h="462279">
                  <a:moveTo>
                    <a:pt x="502920" y="232156"/>
                  </a:moveTo>
                  <a:lnTo>
                    <a:pt x="495427" y="186626"/>
                  </a:lnTo>
                  <a:lnTo>
                    <a:pt x="474586" y="146786"/>
                  </a:lnTo>
                  <a:lnTo>
                    <a:pt x="459740" y="132016"/>
                  </a:lnTo>
                  <a:lnTo>
                    <a:pt x="459740" y="232156"/>
                  </a:lnTo>
                  <a:lnTo>
                    <a:pt x="451510" y="272338"/>
                  </a:lnTo>
                  <a:lnTo>
                    <a:pt x="429183" y="305396"/>
                  </a:lnTo>
                  <a:lnTo>
                    <a:pt x="396290" y="327799"/>
                  </a:lnTo>
                  <a:lnTo>
                    <a:pt x="356362" y="336042"/>
                  </a:lnTo>
                  <a:lnTo>
                    <a:pt x="316509" y="327799"/>
                  </a:lnTo>
                  <a:lnTo>
                    <a:pt x="283692" y="305396"/>
                  </a:lnTo>
                  <a:lnTo>
                    <a:pt x="261429" y="272338"/>
                  </a:lnTo>
                  <a:lnTo>
                    <a:pt x="253238" y="232156"/>
                  </a:lnTo>
                  <a:lnTo>
                    <a:pt x="261429" y="192112"/>
                  </a:lnTo>
                  <a:lnTo>
                    <a:pt x="283692" y="159092"/>
                  </a:lnTo>
                  <a:lnTo>
                    <a:pt x="316509" y="136664"/>
                  </a:lnTo>
                  <a:lnTo>
                    <a:pt x="356362" y="128397"/>
                  </a:lnTo>
                  <a:lnTo>
                    <a:pt x="397103" y="136664"/>
                  </a:lnTo>
                  <a:lnTo>
                    <a:pt x="429907" y="159092"/>
                  </a:lnTo>
                  <a:lnTo>
                    <a:pt x="451777" y="192112"/>
                  </a:lnTo>
                  <a:lnTo>
                    <a:pt x="459740" y="232156"/>
                  </a:lnTo>
                  <a:lnTo>
                    <a:pt x="459740" y="132016"/>
                  </a:lnTo>
                  <a:lnTo>
                    <a:pt x="456107" y="128397"/>
                  </a:lnTo>
                  <a:lnTo>
                    <a:pt x="442836" y="115189"/>
                  </a:lnTo>
                  <a:lnTo>
                    <a:pt x="402615" y="94373"/>
                  </a:lnTo>
                  <a:lnTo>
                    <a:pt x="356362" y="86868"/>
                  </a:lnTo>
                  <a:lnTo>
                    <a:pt x="311086" y="94373"/>
                  </a:lnTo>
                  <a:lnTo>
                    <a:pt x="271462" y="115189"/>
                  </a:lnTo>
                  <a:lnTo>
                    <a:pt x="240030" y="146786"/>
                  </a:lnTo>
                  <a:lnTo>
                    <a:pt x="219303" y="186626"/>
                  </a:lnTo>
                  <a:lnTo>
                    <a:pt x="211836" y="232156"/>
                  </a:lnTo>
                  <a:lnTo>
                    <a:pt x="219303" y="278688"/>
                  </a:lnTo>
                  <a:lnTo>
                    <a:pt x="240030" y="319125"/>
                  </a:lnTo>
                  <a:lnTo>
                    <a:pt x="271462" y="351028"/>
                  </a:lnTo>
                  <a:lnTo>
                    <a:pt x="311086" y="371957"/>
                  </a:lnTo>
                  <a:lnTo>
                    <a:pt x="356362" y="379476"/>
                  </a:lnTo>
                  <a:lnTo>
                    <a:pt x="402615" y="371957"/>
                  </a:lnTo>
                  <a:lnTo>
                    <a:pt x="442836" y="351028"/>
                  </a:lnTo>
                  <a:lnTo>
                    <a:pt x="457746" y="336042"/>
                  </a:lnTo>
                  <a:lnTo>
                    <a:pt x="474586" y="319125"/>
                  </a:lnTo>
                  <a:lnTo>
                    <a:pt x="495427" y="278688"/>
                  </a:lnTo>
                  <a:lnTo>
                    <a:pt x="502920" y="232156"/>
                  </a:lnTo>
                  <a:close/>
                </a:path>
                <a:path w="713740" h="462279">
                  <a:moveTo>
                    <a:pt x="713232" y="226187"/>
                  </a:moveTo>
                  <a:lnTo>
                    <a:pt x="699643" y="208114"/>
                  </a:lnTo>
                  <a:lnTo>
                    <a:pt x="679538" y="183007"/>
                  </a:lnTo>
                  <a:lnTo>
                    <a:pt x="664210" y="165950"/>
                  </a:lnTo>
                  <a:lnTo>
                    <a:pt x="664210" y="235585"/>
                  </a:lnTo>
                  <a:lnTo>
                    <a:pt x="647255" y="255447"/>
                  </a:lnTo>
                  <a:lnTo>
                    <a:pt x="590727" y="312267"/>
                  </a:lnTo>
                  <a:lnTo>
                    <a:pt x="552843" y="343496"/>
                  </a:lnTo>
                  <a:lnTo>
                    <a:pt x="509638" y="372770"/>
                  </a:lnTo>
                  <a:lnTo>
                    <a:pt x="461987" y="397230"/>
                  </a:lnTo>
                  <a:lnTo>
                    <a:pt x="410692" y="414020"/>
                  </a:lnTo>
                  <a:lnTo>
                    <a:pt x="356616" y="420243"/>
                  </a:lnTo>
                  <a:lnTo>
                    <a:pt x="305231" y="414401"/>
                  </a:lnTo>
                  <a:lnTo>
                    <a:pt x="256108" y="398805"/>
                  </a:lnTo>
                  <a:lnTo>
                    <a:pt x="210604" y="376326"/>
                  </a:lnTo>
                  <a:lnTo>
                    <a:pt x="170065" y="349872"/>
                  </a:lnTo>
                  <a:lnTo>
                    <a:pt x="135890" y="322326"/>
                  </a:lnTo>
                  <a:lnTo>
                    <a:pt x="106946" y="295719"/>
                  </a:lnTo>
                  <a:lnTo>
                    <a:pt x="63982" y="248818"/>
                  </a:lnTo>
                  <a:lnTo>
                    <a:pt x="51054" y="231775"/>
                  </a:lnTo>
                  <a:lnTo>
                    <a:pt x="67957" y="211950"/>
                  </a:lnTo>
                  <a:lnTo>
                    <a:pt x="124320" y="155054"/>
                  </a:lnTo>
                  <a:lnTo>
                    <a:pt x="162064" y="123685"/>
                  </a:lnTo>
                  <a:lnTo>
                    <a:pt x="205016" y="94170"/>
                  </a:lnTo>
                  <a:lnTo>
                    <a:pt x="252336" y="69354"/>
                  </a:lnTo>
                  <a:lnTo>
                    <a:pt x="303161" y="52082"/>
                  </a:lnTo>
                  <a:lnTo>
                    <a:pt x="356616" y="45212"/>
                  </a:lnTo>
                  <a:lnTo>
                    <a:pt x="408051" y="51269"/>
                  </a:lnTo>
                  <a:lnTo>
                    <a:pt x="457314" y="67398"/>
                  </a:lnTo>
                  <a:lnTo>
                    <a:pt x="503072" y="90449"/>
                  </a:lnTo>
                  <a:lnTo>
                    <a:pt x="544144" y="117411"/>
                  </a:lnTo>
                  <a:lnTo>
                    <a:pt x="579247" y="145161"/>
                  </a:lnTo>
                  <a:lnTo>
                    <a:pt x="607110" y="171488"/>
                  </a:lnTo>
                  <a:lnTo>
                    <a:pt x="650125" y="217766"/>
                  </a:lnTo>
                  <a:lnTo>
                    <a:pt x="664210" y="235585"/>
                  </a:lnTo>
                  <a:lnTo>
                    <a:pt x="664210" y="165950"/>
                  </a:lnTo>
                  <a:lnTo>
                    <a:pt x="607568" y="109347"/>
                  </a:lnTo>
                  <a:lnTo>
                    <a:pt x="551942" y="66675"/>
                  </a:lnTo>
                  <a:lnTo>
                    <a:pt x="517105" y="45212"/>
                  </a:lnTo>
                  <a:lnTo>
                    <a:pt x="460908" y="19075"/>
                  </a:lnTo>
                  <a:lnTo>
                    <a:pt x="390867" y="2120"/>
                  </a:lnTo>
                  <a:lnTo>
                    <a:pt x="356616" y="0"/>
                  </a:lnTo>
                  <a:lnTo>
                    <a:pt x="322351" y="2120"/>
                  </a:lnTo>
                  <a:lnTo>
                    <a:pt x="252361" y="19075"/>
                  </a:lnTo>
                  <a:lnTo>
                    <a:pt x="217043" y="33909"/>
                  </a:lnTo>
                  <a:lnTo>
                    <a:pt x="160921" y="67398"/>
                  </a:lnTo>
                  <a:lnTo>
                    <a:pt x="107569" y="109347"/>
                  </a:lnTo>
                  <a:lnTo>
                    <a:pt x="65659" y="149186"/>
                  </a:lnTo>
                  <a:lnTo>
                    <a:pt x="34010" y="183730"/>
                  </a:lnTo>
                  <a:lnTo>
                    <a:pt x="5715" y="218567"/>
                  </a:lnTo>
                  <a:lnTo>
                    <a:pt x="0" y="226187"/>
                  </a:lnTo>
                  <a:lnTo>
                    <a:pt x="0" y="235585"/>
                  </a:lnTo>
                  <a:lnTo>
                    <a:pt x="5715" y="241173"/>
                  </a:lnTo>
                  <a:lnTo>
                    <a:pt x="13677" y="252463"/>
                  </a:lnTo>
                  <a:lnTo>
                    <a:pt x="65659" y="311746"/>
                  </a:lnTo>
                  <a:lnTo>
                    <a:pt x="107569" y="350520"/>
                  </a:lnTo>
                  <a:lnTo>
                    <a:pt x="162306" y="393128"/>
                  </a:lnTo>
                  <a:lnTo>
                    <a:pt x="217043" y="425831"/>
                  </a:lnTo>
                  <a:lnTo>
                    <a:pt x="252361" y="441045"/>
                  </a:lnTo>
                  <a:lnTo>
                    <a:pt x="322351" y="459359"/>
                  </a:lnTo>
                  <a:lnTo>
                    <a:pt x="356616" y="461772"/>
                  </a:lnTo>
                  <a:lnTo>
                    <a:pt x="390867" y="459359"/>
                  </a:lnTo>
                  <a:lnTo>
                    <a:pt x="425704" y="452335"/>
                  </a:lnTo>
                  <a:lnTo>
                    <a:pt x="460908" y="441045"/>
                  </a:lnTo>
                  <a:lnTo>
                    <a:pt x="496316" y="425831"/>
                  </a:lnTo>
                  <a:lnTo>
                    <a:pt x="506526" y="420243"/>
                  </a:lnTo>
                  <a:lnTo>
                    <a:pt x="524573" y="410375"/>
                  </a:lnTo>
                  <a:lnTo>
                    <a:pt x="580377" y="372351"/>
                  </a:lnTo>
                  <a:lnTo>
                    <a:pt x="648436" y="310934"/>
                  </a:lnTo>
                  <a:lnTo>
                    <a:pt x="679538" y="276796"/>
                  </a:lnTo>
                  <a:lnTo>
                    <a:pt x="707517" y="241173"/>
                  </a:lnTo>
                  <a:lnTo>
                    <a:pt x="713232" y="235585"/>
                  </a:lnTo>
                  <a:lnTo>
                    <a:pt x="713232" y="226187"/>
                  </a:lnTo>
                  <a:close/>
                </a:path>
              </a:pathLst>
            </a:custGeom>
            <a:solidFill>
              <a:srgbClr val="44536A"/>
            </a:solidFill>
          </p:spPr>
          <p:txBody>
            <a:bodyPr wrap="square" lIns="0" tIns="0" rIns="0" bIns="0" rtlCol="0"/>
            <a:lstStyle/>
            <a:p>
              <a:endParaRPr/>
            </a:p>
          </p:txBody>
        </p:sp>
      </p:grpSp>
      <p:grpSp>
        <p:nvGrpSpPr>
          <p:cNvPr id="12" name="object 12"/>
          <p:cNvGrpSpPr/>
          <p:nvPr/>
        </p:nvGrpSpPr>
        <p:grpSpPr>
          <a:xfrm>
            <a:off x="10758253" y="4600955"/>
            <a:ext cx="605155" cy="706120"/>
            <a:chOff x="10758253" y="4600955"/>
            <a:chExt cx="605155" cy="706120"/>
          </a:xfrm>
        </p:grpSpPr>
        <p:sp>
          <p:nvSpPr>
            <p:cNvPr id="13" name="object 13"/>
            <p:cNvSpPr/>
            <p:nvPr/>
          </p:nvSpPr>
          <p:spPr>
            <a:xfrm>
              <a:off x="10758253" y="4600955"/>
              <a:ext cx="605155" cy="706120"/>
            </a:xfrm>
            <a:custGeom>
              <a:avLst/>
              <a:gdLst/>
              <a:ahLst/>
              <a:cxnLst/>
              <a:rect l="l" t="t" r="r" b="b"/>
              <a:pathLst>
                <a:path w="605154" h="706120">
                  <a:moveTo>
                    <a:pt x="199306" y="0"/>
                  </a:moveTo>
                  <a:lnTo>
                    <a:pt x="152189" y="3810"/>
                  </a:lnTo>
                  <a:lnTo>
                    <a:pt x="101387" y="23520"/>
                  </a:lnTo>
                  <a:lnTo>
                    <a:pt x="58193" y="55768"/>
                  </a:lnTo>
                  <a:lnTo>
                    <a:pt x="25263" y="98232"/>
                  </a:lnTo>
                  <a:lnTo>
                    <a:pt x="5250" y="148590"/>
                  </a:lnTo>
                  <a:lnTo>
                    <a:pt x="0" y="194157"/>
                  </a:lnTo>
                  <a:lnTo>
                    <a:pt x="4298" y="239379"/>
                  </a:lnTo>
                  <a:lnTo>
                    <a:pt x="18502" y="282481"/>
                  </a:lnTo>
                  <a:lnTo>
                    <a:pt x="42969" y="321691"/>
                  </a:lnTo>
                  <a:lnTo>
                    <a:pt x="60529" y="348795"/>
                  </a:lnTo>
                  <a:lnTo>
                    <a:pt x="73529" y="378888"/>
                  </a:lnTo>
                  <a:lnTo>
                    <a:pt x="81599" y="411434"/>
                  </a:lnTo>
                  <a:lnTo>
                    <a:pt x="84371" y="445897"/>
                  </a:lnTo>
                  <a:lnTo>
                    <a:pt x="84371" y="609600"/>
                  </a:lnTo>
                  <a:lnTo>
                    <a:pt x="91695" y="646836"/>
                  </a:lnTo>
                  <a:lnTo>
                    <a:pt x="111914" y="677370"/>
                  </a:lnTo>
                  <a:lnTo>
                    <a:pt x="142396" y="698021"/>
                  </a:lnTo>
                  <a:lnTo>
                    <a:pt x="180510" y="705612"/>
                  </a:lnTo>
                  <a:lnTo>
                    <a:pt x="218551" y="698021"/>
                  </a:lnTo>
                  <a:lnTo>
                    <a:pt x="248995" y="677370"/>
                  </a:lnTo>
                  <a:lnTo>
                    <a:pt x="258964" y="662305"/>
                  </a:lnTo>
                  <a:lnTo>
                    <a:pt x="180510" y="662305"/>
                  </a:lnTo>
                  <a:lnTo>
                    <a:pt x="159206" y="658034"/>
                  </a:lnTo>
                  <a:lnTo>
                    <a:pt x="141807" y="646525"/>
                  </a:lnTo>
                  <a:lnTo>
                    <a:pt x="130075" y="629729"/>
                  </a:lnTo>
                  <a:lnTo>
                    <a:pt x="125773" y="609600"/>
                  </a:lnTo>
                  <a:lnTo>
                    <a:pt x="125773" y="445897"/>
                  </a:lnTo>
                  <a:lnTo>
                    <a:pt x="122634" y="404415"/>
                  </a:lnTo>
                  <a:lnTo>
                    <a:pt x="113327" y="365029"/>
                  </a:lnTo>
                  <a:lnTo>
                    <a:pt x="98020" y="328453"/>
                  </a:lnTo>
                  <a:lnTo>
                    <a:pt x="76878" y="295402"/>
                  </a:lnTo>
                  <a:lnTo>
                    <a:pt x="58112" y="264161"/>
                  </a:lnTo>
                  <a:lnTo>
                    <a:pt x="47144" y="230266"/>
                  </a:lnTo>
                  <a:lnTo>
                    <a:pt x="43963" y="194585"/>
                  </a:lnTo>
                  <a:lnTo>
                    <a:pt x="48557" y="157988"/>
                  </a:lnTo>
                  <a:lnTo>
                    <a:pt x="64140" y="118149"/>
                  </a:lnTo>
                  <a:lnTo>
                    <a:pt x="89785" y="84645"/>
                  </a:lnTo>
                  <a:lnTo>
                    <a:pt x="123549" y="59618"/>
                  </a:lnTo>
                  <a:lnTo>
                    <a:pt x="163492" y="45212"/>
                  </a:lnTo>
                  <a:lnTo>
                    <a:pt x="201211" y="39497"/>
                  </a:lnTo>
                  <a:lnTo>
                    <a:pt x="524996" y="39497"/>
                  </a:lnTo>
                  <a:lnTo>
                    <a:pt x="509898" y="28194"/>
                  </a:lnTo>
                  <a:lnTo>
                    <a:pt x="302938" y="28194"/>
                  </a:lnTo>
                  <a:lnTo>
                    <a:pt x="279030" y="15859"/>
                  </a:lnTo>
                  <a:lnTo>
                    <a:pt x="253218" y="7048"/>
                  </a:lnTo>
                  <a:lnTo>
                    <a:pt x="226357" y="1762"/>
                  </a:lnTo>
                  <a:lnTo>
                    <a:pt x="199306" y="0"/>
                  </a:lnTo>
                  <a:close/>
                </a:path>
                <a:path w="605154" h="706120">
                  <a:moveTo>
                    <a:pt x="364281" y="481711"/>
                  </a:moveTo>
                  <a:lnTo>
                    <a:pt x="304843" y="481711"/>
                  </a:lnTo>
                  <a:lnTo>
                    <a:pt x="315591" y="483723"/>
                  </a:lnTo>
                  <a:lnTo>
                    <a:pt x="324623" y="489426"/>
                  </a:lnTo>
                  <a:lnTo>
                    <a:pt x="330846" y="498320"/>
                  </a:lnTo>
                  <a:lnTo>
                    <a:pt x="333164" y="509905"/>
                  </a:lnTo>
                  <a:lnTo>
                    <a:pt x="333164" y="609600"/>
                  </a:lnTo>
                  <a:lnTo>
                    <a:pt x="340754" y="646836"/>
                  </a:lnTo>
                  <a:lnTo>
                    <a:pt x="361406" y="677370"/>
                  </a:lnTo>
                  <a:lnTo>
                    <a:pt x="391939" y="698021"/>
                  </a:lnTo>
                  <a:lnTo>
                    <a:pt x="429176" y="705612"/>
                  </a:lnTo>
                  <a:lnTo>
                    <a:pt x="467534" y="698021"/>
                  </a:lnTo>
                  <a:lnTo>
                    <a:pt x="498677" y="677370"/>
                  </a:lnTo>
                  <a:lnTo>
                    <a:pt x="508991" y="662305"/>
                  </a:lnTo>
                  <a:lnTo>
                    <a:pt x="425366" y="662305"/>
                  </a:lnTo>
                  <a:lnTo>
                    <a:pt x="404135" y="658034"/>
                  </a:lnTo>
                  <a:lnTo>
                    <a:pt x="386774" y="646525"/>
                  </a:lnTo>
                  <a:lnTo>
                    <a:pt x="375056" y="629729"/>
                  </a:lnTo>
                  <a:lnTo>
                    <a:pt x="370756" y="609600"/>
                  </a:lnTo>
                  <a:lnTo>
                    <a:pt x="370756" y="509905"/>
                  </a:lnTo>
                  <a:lnTo>
                    <a:pt x="365464" y="483469"/>
                  </a:lnTo>
                  <a:lnTo>
                    <a:pt x="364281" y="481711"/>
                  </a:lnTo>
                  <a:close/>
                </a:path>
                <a:path w="605154" h="706120">
                  <a:moveTo>
                    <a:pt x="302938" y="442214"/>
                  </a:moveTo>
                  <a:lnTo>
                    <a:pt x="276429" y="447504"/>
                  </a:lnTo>
                  <a:lnTo>
                    <a:pt x="254885" y="461962"/>
                  </a:lnTo>
                  <a:lnTo>
                    <a:pt x="240412" y="483469"/>
                  </a:lnTo>
                  <a:lnTo>
                    <a:pt x="235120" y="509905"/>
                  </a:lnTo>
                  <a:lnTo>
                    <a:pt x="235120" y="609600"/>
                  </a:lnTo>
                  <a:lnTo>
                    <a:pt x="230552" y="630533"/>
                  </a:lnTo>
                  <a:lnTo>
                    <a:pt x="218388" y="647239"/>
                  </a:lnTo>
                  <a:lnTo>
                    <a:pt x="200937" y="658302"/>
                  </a:lnTo>
                  <a:lnTo>
                    <a:pt x="180510" y="662305"/>
                  </a:lnTo>
                  <a:lnTo>
                    <a:pt x="258964" y="662305"/>
                  </a:lnTo>
                  <a:lnTo>
                    <a:pt x="269200" y="646836"/>
                  </a:lnTo>
                  <a:lnTo>
                    <a:pt x="276522" y="609600"/>
                  </a:lnTo>
                  <a:lnTo>
                    <a:pt x="276522" y="509905"/>
                  </a:lnTo>
                  <a:lnTo>
                    <a:pt x="278554" y="499927"/>
                  </a:lnTo>
                  <a:lnTo>
                    <a:pt x="284301" y="490855"/>
                  </a:lnTo>
                  <a:lnTo>
                    <a:pt x="293239" y="484258"/>
                  </a:lnTo>
                  <a:lnTo>
                    <a:pt x="304843" y="481711"/>
                  </a:lnTo>
                  <a:lnTo>
                    <a:pt x="364281" y="481711"/>
                  </a:lnTo>
                  <a:lnTo>
                    <a:pt x="350992" y="461962"/>
                  </a:lnTo>
                  <a:lnTo>
                    <a:pt x="329447" y="447504"/>
                  </a:lnTo>
                  <a:lnTo>
                    <a:pt x="302938" y="442214"/>
                  </a:lnTo>
                  <a:close/>
                </a:path>
                <a:path w="605154" h="706120">
                  <a:moveTo>
                    <a:pt x="524996" y="39497"/>
                  </a:moveTo>
                  <a:lnTo>
                    <a:pt x="408475" y="39497"/>
                  </a:lnTo>
                  <a:lnTo>
                    <a:pt x="417548" y="39854"/>
                  </a:lnTo>
                  <a:lnTo>
                    <a:pt x="427335" y="40925"/>
                  </a:lnTo>
                  <a:lnTo>
                    <a:pt x="486138" y="60690"/>
                  </a:lnTo>
                  <a:lnTo>
                    <a:pt x="519902" y="86074"/>
                  </a:lnTo>
                  <a:lnTo>
                    <a:pt x="545546" y="119221"/>
                  </a:lnTo>
                  <a:lnTo>
                    <a:pt x="561129" y="157988"/>
                  </a:lnTo>
                  <a:lnTo>
                    <a:pt x="564324" y="194585"/>
                  </a:lnTo>
                  <a:lnTo>
                    <a:pt x="559923" y="230266"/>
                  </a:lnTo>
                  <a:lnTo>
                    <a:pt x="548092" y="264161"/>
                  </a:lnTo>
                  <a:lnTo>
                    <a:pt x="528998" y="295402"/>
                  </a:lnTo>
                  <a:lnTo>
                    <a:pt x="508660" y="328453"/>
                  </a:lnTo>
                  <a:lnTo>
                    <a:pt x="493264" y="365029"/>
                  </a:lnTo>
                  <a:lnTo>
                    <a:pt x="483510" y="404415"/>
                  </a:lnTo>
                  <a:lnTo>
                    <a:pt x="480103" y="445897"/>
                  </a:lnTo>
                  <a:lnTo>
                    <a:pt x="480103" y="609600"/>
                  </a:lnTo>
                  <a:lnTo>
                    <a:pt x="475533" y="630533"/>
                  </a:lnTo>
                  <a:lnTo>
                    <a:pt x="463355" y="647239"/>
                  </a:lnTo>
                  <a:lnTo>
                    <a:pt x="445867" y="658302"/>
                  </a:lnTo>
                  <a:lnTo>
                    <a:pt x="425366" y="662305"/>
                  </a:lnTo>
                  <a:lnTo>
                    <a:pt x="508991" y="662305"/>
                  </a:lnTo>
                  <a:lnTo>
                    <a:pt x="519580" y="646836"/>
                  </a:lnTo>
                  <a:lnTo>
                    <a:pt x="527220" y="609600"/>
                  </a:lnTo>
                  <a:lnTo>
                    <a:pt x="527220" y="445897"/>
                  </a:lnTo>
                  <a:lnTo>
                    <a:pt x="529677" y="411434"/>
                  </a:lnTo>
                  <a:lnTo>
                    <a:pt x="537063" y="378888"/>
                  </a:lnTo>
                  <a:lnTo>
                    <a:pt x="549401" y="348795"/>
                  </a:lnTo>
                  <a:lnTo>
                    <a:pt x="566717" y="321691"/>
                  </a:lnTo>
                  <a:lnTo>
                    <a:pt x="587345" y="282481"/>
                  </a:lnTo>
                  <a:lnTo>
                    <a:pt x="600388" y="239379"/>
                  </a:lnTo>
                  <a:lnTo>
                    <a:pt x="604597" y="194157"/>
                  </a:lnTo>
                  <a:lnTo>
                    <a:pt x="598721" y="148590"/>
                  </a:lnTo>
                  <a:lnTo>
                    <a:pt x="579542" y="98232"/>
                  </a:lnTo>
                  <a:lnTo>
                    <a:pt x="546731" y="55768"/>
                  </a:lnTo>
                  <a:lnTo>
                    <a:pt x="524996" y="39497"/>
                  </a:lnTo>
                  <a:close/>
                </a:path>
                <a:path w="605154" h="706120">
                  <a:moveTo>
                    <a:pt x="408475" y="39497"/>
                  </a:moveTo>
                  <a:lnTo>
                    <a:pt x="201211" y="39497"/>
                  </a:lnTo>
                  <a:lnTo>
                    <a:pt x="226228" y="41259"/>
                  </a:lnTo>
                  <a:lnTo>
                    <a:pt x="250186" y="46545"/>
                  </a:lnTo>
                  <a:lnTo>
                    <a:pt x="272738" y="55356"/>
                  </a:lnTo>
                  <a:lnTo>
                    <a:pt x="293540" y="67691"/>
                  </a:lnTo>
                  <a:lnTo>
                    <a:pt x="297223" y="69596"/>
                  </a:lnTo>
                  <a:lnTo>
                    <a:pt x="301541" y="70485"/>
                  </a:lnTo>
                  <a:lnTo>
                    <a:pt x="309542" y="70485"/>
                  </a:lnTo>
                  <a:lnTo>
                    <a:pt x="313352" y="69596"/>
                  </a:lnTo>
                  <a:lnTo>
                    <a:pt x="316146" y="67691"/>
                  </a:lnTo>
                  <a:lnTo>
                    <a:pt x="337216" y="55356"/>
                  </a:lnTo>
                  <a:lnTo>
                    <a:pt x="360215" y="46545"/>
                  </a:lnTo>
                  <a:lnTo>
                    <a:pt x="384262" y="41259"/>
                  </a:lnTo>
                  <a:lnTo>
                    <a:pt x="408475" y="39497"/>
                  </a:lnTo>
                  <a:close/>
                </a:path>
                <a:path w="605154" h="706120">
                  <a:moveTo>
                    <a:pt x="406570" y="0"/>
                  </a:moveTo>
                  <a:lnTo>
                    <a:pt x="379519" y="1762"/>
                  </a:lnTo>
                  <a:lnTo>
                    <a:pt x="352659" y="7048"/>
                  </a:lnTo>
                  <a:lnTo>
                    <a:pt x="326846" y="15859"/>
                  </a:lnTo>
                  <a:lnTo>
                    <a:pt x="302938" y="28194"/>
                  </a:lnTo>
                  <a:lnTo>
                    <a:pt x="509898" y="28194"/>
                  </a:lnTo>
                  <a:lnTo>
                    <a:pt x="453687" y="3810"/>
                  </a:lnTo>
                  <a:lnTo>
                    <a:pt x="406570" y="0"/>
                  </a:lnTo>
                  <a:close/>
                </a:path>
              </a:pathLst>
            </a:custGeom>
            <a:solidFill>
              <a:srgbClr val="44536A"/>
            </a:solidFill>
          </p:spPr>
          <p:txBody>
            <a:bodyPr wrap="square" lIns="0" tIns="0" rIns="0" bIns="0" rtlCol="0"/>
            <a:lstStyle/>
            <a:p>
              <a:endParaRPr/>
            </a:p>
          </p:txBody>
        </p:sp>
        <p:pic>
          <p:nvPicPr>
            <p:cNvPr id="14" name="object 14"/>
            <p:cNvPicPr/>
            <p:nvPr/>
          </p:nvPicPr>
          <p:blipFill>
            <a:blip r:embed="rId4" cstate="print"/>
            <a:stretch>
              <a:fillRect/>
            </a:stretch>
          </p:blipFill>
          <p:spPr>
            <a:xfrm>
              <a:off x="11084067" y="4680203"/>
              <a:ext cx="189565" cy="195071"/>
            </a:xfrm>
            <a:prstGeom prst="rect">
              <a:avLst/>
            </a:prstGeom>
          </p:spPr>
        </p:pic>
      </p:grpSp>
      <p:sp>
        <p:nvSpPr>
          <p:cNvPr id="15" name="Rectangle 1"/>
          <p:cNvSpPr>
            <a:spLocks noChangeArrowheads="1"/>
          </p:cNvSpPr>
          <p:nvPr/>
        </p:nvSpPr>
        <p:spPr bwMode="auto">
          <a:xfrm>
            <a:off x="581150" y="-4062635"/>
            <a:ext cx="3171800" cy="812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816" y="1066800"/>
            <a:ext cx="3164840" cy="543560"/>
          </a:xfrm>
          <a:prstGeom prst="rect">
            <a:avLst/>
          </a:prstGeom>
        </p:spPr>
        <p:txBody>
          <a:bodyPr vert="horz" wrap="square" lIns="0" tIns="12065" rIns="0" bIns="0" rtlCol="0">
            <a:spAutoFit/>
          </a:bodyPr>
          <a:lstStyle/>
          <a:p>
            <a:pPr marL="12700">
              <a:lnSpc>
                <a:spcPct val="100000"/>
              </a:lnSpc>
              <a:spcBef>
                <a:spcPts val="95"/>
              </a:spcBef>
            </a:pPr>
            <a:r>
              <a:rPr spc="-10" dirty="0"/>
              <a:t>CHALLENGES:</a:t>
            </a:r>
          </a:p>
        </p:txBody>
      </p:sp>
      <p:sp>
        <p:nvSpPr>
          <p:cNvPr id="3" name="object 3"/>
          <p:cNvSpPr txBox="1"/>
          <p:nvPr/>
        </p:nvSpPr>
        <p:spPr>
          <a:xfrm>
            <a:off x="47244" y="1782382"/>
            <a:ext cx="11963400" cy="5681684"/>
          </a:xfrm>
          <a:prstGeom prst="rect">
            <a:avLst/>
          </a:prstGeom>
        </p:spPr>
        <p:txBody>
          <a:bodyPr vert="horz" wrap="square" lIns="0" tIns="13335" rIns="0" bIns="0" rtlCol="0">
            <a:spAutoFit/>
          </a:bodyPr>
          <a:lstStyle/>
          <a:p>
            <a:pPr marL="12700" algn="just">
              <a:lnSpc>
                <a:spcPts val="2280"/>
              </a:lnSpc>
              <a:spcBef>
                <a:spcPts val="105"/>
              </a:spcBef>
              <a:tabLst>
                <a:tab pos="240665" algn="l"/>
                <a:tab pos="241300" algn="l"/>
              </a:tabLst>
            </a:pPr>
            <a:r>
              <a:rPr lang="en-US" sz="2000" b="1" dirty="0">
                <a:latin typeface="Times New Roman"/>
                <a:cs typeface="Times New Roman"/>
              </a:rPr>
              <a:t>    </a:t>
            </a:r>
            <a:r>
              <a:rPr sz="2000" b="1" dirty="0">
                <a:latin typeface="Times New Roman"/>
                <a:cs typeface="Times New Roman"/>
              </a:rPr>
              <a:t>Data</a:t>
            </a:r>
            <a:r>
              <a:rPr sz="2000" b="1" spc="-45" dirty="0">
                <a:latin typeface="Times New Roman"/>
                <a:cs typeface="Times New Roman"/>
              </a:rPr>
              <a:t> </a:t>
            </a:r>
            <a:r>
              <a:rPr sz="2000" b="1" dirty="0">
                <a:latin typeface="Times New Roman"/>
                <a:cs typeface="Times New Roman"/>
              </a:rPr>
              <a:t>Quality</a:t>
            </a:r>
            <a:r>
              <a:rPr sz="2000" b="1" spc="-45" dirty="0">
                <a:latin typeface="Times New Roman"/>
                <a:cs typeface="Times New Roman"/>
              </a:rPr>
              <a:t> </a:t>
            </a:r>
            <a:r>
              <a:rPr sz="2000" b="1" dirty="0">
                <a:latin typeface="Times New Roman"/>
                <a:cs typeface="Times New Roman"/>
              </a:rPr>
              <a:t>and</a:t>
            </a:r>
            <a:r>
              <a:rPr sz="2000" b="1" spc="-120" dirty="0">
                <a:latin typeface="Times New Roman"/>
                <a:cs typeface="Times New Roman"/>
              </a:rPr>
              <a:t> </a:t>
            </a:r>
            <a:r>
              <a:rPr sz="2000" b="1" spc="-10" dirty="0">
                <a:latin typeface="Times New Roman"/>
                <a:cs typeface="Times New Roman"/>
              </a:rPr>
              <a:t>Availability</a:t>
            </a:r>
            <a:r>
              <a:rPr sz="2000" spc="-10" dirty="0">
                <a:latin typeface="Times New Roman"/>
                <a:cs typeface="Times New Roman"/>
              </a:rPr>
              <a:t>:</a:t>
            </a:r>
            <a:r>
              <a:rPr sz="2000" spc="-55" dirty="0">
                <a:latin typeface="Times New Roman"/>
                <a:cs typeface="Times New Roman"/>
              </a:rPr>
              <a:t> </a:t>
            </a:r>
            <a:r>
              <a:rPr sz="2000" dirty="0">
                <a:latin typeface="Times New Roman"/>
                <a:cs typeface="Times New Roman"/>
              </a:rPr>
              <a:t>Obtaining</a:t>
            </a:r>
            <a:r>
              <a:rPr sz="2000" spc="-50" dirty="0">
                <a:latin typeface="Times New Roman"/>
                <a:cs typeface="Times New Roman"/>
              </a:rPr>
              <a:t> </a:t>
            </a:r>
            <a:r>
              <a:rPr sz="2000" dirty="0">
                <a:latin typeface="Times New Roman"/>
                <a:cs typeface="Times New Roman"/>
              </a:rPr>
              <a:t>high-quality</a:t>
            </a:r>
            <a:r>
              <a:rPr sz="2000" spc="-45"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comprehensive</a:t>
            </a:r>
            <a:r>
              <a:rPr sz="2000" spc="-45" dirty="0">
                <a:latin typeface="Times New Roman"/>
                <a:cs typeface="Times New Roman"/>
              </a:rPr>
              <a:t> </a:t>
            </a:r>
            <a:r>
              <a:rPr sz="2000" dirty="0">
                <a:latin typeface="Times New Roman"/>
                <a:cs typeface="Times New Roman"/>
              </a:rPr>
              <a:t>symptom</a:t>
            </a:r>
            <a:r>
              <a:rPr sz="2000" spc="-30" dirty="0">
                <a:latin typeface="Times New Roman"/>
                <a:cs typeface="Times New Roman"/>
              </a:rPr>
              <a:t> </a:t>
            </a:r>
            <a:r>
              <a:rPr sz="2000" dirty="0">
                <a:latin typeface="Times New Roman"/>
                <a:cs typeface="Times New Roman"/>
              </a:rPr>
              <a:t>data</a:t>
            </a:r>
            <a:r>
              <a:rPr sz="2000" spc="-15" dirty="0">
                <a:latin typeface="Times New Roman"/>
                <a:cs typeface="Times New Roman"/>
              </a:rPr>
              <a:t> </a:t>
            </a:r>
            <a:r>
              <a:rPr sz="2000" dirty="0">
                <a:latin typeface="Times New Roman"/>
                <a:cs typeface="Times New Roman"/>
              </a:rPr>
              <a:t>from</a:t>
            </a:r>
            <a:r>
              <a:rPr sz="2000" spc="-40" dirty="0">
                <a:latin typeface="Times New Roman"/>
                <a:cs typeface="Times New Roman"/>
              </a:rPr>
              <a:t> </a:t>
            </a:r>
            <a:r>
              <a:rPr sz="2000" dirty="0">
                <a:latin typeface="Times New Roman"/>
                <a:cs typeface="Times New Roman"/>
              </a:rPr>
              <a:t>patients</a:t>
            </a:r>
            <a:r>
              <a:rPr sz="2000" spc="-40"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spc="-25" dirty="0">
                <a:latin typeface="Times New Roman"/>
                <a:cs typeface="Times New Roman"/>
              </a:rPr>
              <a:t>be</a:t>
            </a:r>
            <a:endParaRPr sz="2000" dirty="0">
              <a:latin typeface="Times New Roman"/>
              <a:cs typeface="Times New Roman"/>
            </a:endParaRPr>
          </a:p>
          <a:p>
            <a:pPr marL="241300" lvl="0" algn="just" rtl="0">
              <a:lnSpc>
                <a:spcPts val="2280"/>
              </a:lnSpc>
            </a:pPr>
            <a:r>
              <a:rPr lang="en-IN" sz="2000" spc="-10" dirty="0">
                <a:latin typeface="Times New Roman"/>
                <a:cs typeface="Times New Roman"/>
              </a:rPr>
              <a:t>C</a:t>
            </a:r>
            <a:r>
              <a:rPr sz="2000" spc="-10" dirty="0" err="1">
                <a:latin typeface="Times New Roman"/>
                <a:cs typeface="Times New Roman"/>
              </a:rPr>
              <a:t>hallenging</a:t>
            </a:r>
            <a:r>
              <a:rPr lang="en-US" sz="2000" spc="-10" dirty="0">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and</a:t>
            </a:r>
            <a:r>
              <a:rPr kumimoji="0" 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Inconsistent and incomplete clinical data can affect model accuracy.</a:t>
            </a:r>
          </a:p>
          <a:p>
            <a:pPr marL="241300" lvl="0" algn="just" rtl="0">
              <a:lnSpc>
                <a:spcPts val="2280"/>
              </a:lnSpc>
            </a:pPr>
            <a:endParaRPr lang="en-US" sz="2000" b="1" dirty="0">
              <a:solidFill>
                <a:schemeClr val="tx1"/>
              </a:solidFill>
              <a:latin typeface="Times New Roman" panose="02020603050405020304" pitchFamily="18" charset="0"/>
              <a:cs typeface="Times New Roman" panose="02020603050405020304" pitchFamily="18" charset="0"/>
            </a:endParaRPr>
          </a:p>
          <a:p>
            <a:pPr marL="241300" lvl="0" algn="just" rtl="0">
              <a:lnSpc>
                <a:spcPts val="2280"/>
              </a:lnSpc>
            </a:pPr>
            <a:r>
              <a:rPr sz="2000" b="1" dirty="0">
                <a:latin typeface="Times New Roman"/>
                <a:cs typeface="Times New Roman"/>
              </a:rPr>
              <a:t>Algorithm</a:t>
            </a:r>
            <a:r>
              <a:rPr sz="2000" b="1" spc="-60" dirty="0">
                <a:latin typeface="Times New Roman"/>
                <a:cs typeface="Times New Roman"/>
              </a:rPr>
              <a:t> </a:t>
            </a:r>
            <a:r>
              <a:rPr sz="2000" b="1" dirty="0">
                <a:latin typeface="Times New Roman"/>
                <a:cs typeface="Times New Roman"/>
              </a:rPr>
              <a:t>Complexity</a:t>
            </a:r>
            <a:r>
              <a:rPr sz="2000" b="1" spc="-45" dirty="0">
                <a:latin typeface="Times New Roman"/>
                <a:cs typeface="Times New Roman"/>
              </a:rPr>
              <a:t> </a:t>
            </a:r>
            <a:r>
              <a:rPr sz="2000" b="1" dirty="0">
                <a:latin typeface="Times New Roman"/>
                <a:cs typeface="Times New Roman"/>
              </a:rPr>
              <a:t>and</a:t>
            </a:r>
            <a:r>
              <a:rPr sz="2000" b="1" spc="-25" dirty="0">
                <a:latin typeface="Times New Roman"/>
                <a:cs typeface="Times New Roman"/>
              </a:rPr>
              <a:t> </a:t>
            </a:r>
            <a:r>
              <a:rPr sz="2000" b="1" dirty="0">
                <a:latin typeface="Times New Roman"/>
                <a:cs typeface="Times New Roman"/>
              </a:rPr>
              <a:t>Interpretability</a:t>
            </a:r>
            <a:r>
              <a:rPr sz="2000" dirty="0">
                <a:latin typeface="Times New Roman"/>
                <a:cs typeface="Times New Roman"/>
              </a:rPr>
              <a:t>:</a:t>
            </a:r>
            <a:r>
              <a:rPr sz="2000" spc="-60" dirty="0">
                <a:latin typeface="Times New Roman"/>
                <a:cs typeface="Times New Roman"/>
              </a:rPr>
              <a:t> </a:t>
            </a:r>
            <a:r>
              <a:rPr sz="2000" dirty="0">
                <a:latin typeface="Times New Roman"/>
                <a:cs typeface="Times New Roman"/>
              </a:rPr>
              <a:t>algorithms</a:t>
            </a:r>
            <a:r>
              <a:rPr sz="2000" spc="-40" dirty="0">
                <a:latin typeface="Times New Roman"/>
                <a:cs typeface="Times New Roman"/>
              </a:rPr>
              <a:t> </a:t>
            </a:r>
            <a:r>
              <a:rPr sz="2000" dirty="0">
                <a:latin typeface="Times New Roman"/>
                <a:cs typeface="Times New Roman"/>
              </a:rPr>
              <a:t>used</a:t>
            </a:r>
            <a:r>
              <a:rPr sz="2000" spc="-20" dirty="0">
                <a:latin typeface="Times New Roman"/>
                <a:cs typeface="Times New Roman"/>
              </a:rPr>
              <a:t> </a:t>
            </a:r>
            <a:r>
              <a:rPr sz="2000" dirty="0">
                <a:latin typeface="Times New Roman"/>
                <a:cs typeface="Times New Roman"/>
              </a:rPr>
              <a:t>for</a:t>
            </a:r>
            <a:r>
              <a:rPr sz="2000" spc="-40" dirty="0">
                <a:latin typeface="Times New Roman"/>
                <a:cs typeface="Times New Roman"/>
              </a:rPr>
              <a:t> </a:t>
            </a:r>
            <a:r>
              <a:rPr sz="2000" dirty="0">
                <a:latin typeface="Times New Roman"/>
                <a:cs typeface="Times New Roman"/>
              </a:rPr>
              <a:t>disease</a:t>
            </a:r>
            <a:r>
              <a:rPr sz="2000" spc="-35" dirty="0">
                <a:latin typeface="Times New Roman"/>
                <a:cs typeface="Times New Roman"/>
              </a:rPr>
              <a:t> </a:t>
            </a:r>
            <a:r>
              <a:rPr sz="2000" dirty="0">
                <a:latin typeface="Times New Roman"/>
                <a:cs typeface="Times New Roman"/>
              </a:rPr>
              <a:t>prediction</a:t>
            </a:r>
            <a:r>
              <a:rPr sz="2000" spc="-45" dirty="0">
                <a:latin typeface="Times New Roman"/>
                <a:cs typeface="Times New Roman"/>
              </a:rPr>
              <a:t> </a:t>
            </a:r>
            <a:r>
              <a:rPr sz="2000" dirty="0">
                <a:latin typeface="Times New Roman"/>
                <a:cs typeface="Times New Roman"/>
              </a:rPr>
              <a:t>can</a:t>
            </a:r>
            <a:r>
              <a:rPr sz="2000" spc="-15" dirty="0">
                <a:latin typeface="Times New Roman"/>
                <a:cs typeface="Times New Roman"/>
              </a:rPr>
              <a:t> </a:t>
            </a:r>
            <a:r>
              <a:rPr sz="2000" dirty="0">
                <a:latin typeface="Times New Roman"/>
                <a:cs typeface="Times New Roman"/>
              </a:rPr>
              <a:t>be</a:t>
            </a:r>
            <a:r>
              <a:rPr sz="2000" spc="-10" dirty="0">
                <a:latin typeface="Times New Roman"/>
                <a:cs typeface="Times New Roman"/>
              </a:rPr>
              <a:t> </a:t>
            </a:r>
            <a:r>
              <a:rPr sz="2000" dirty="0">
                <a:latin typeface="Times New Roman"/>
                <a:cs typeface="Times New Roman"/>
              </a:rPr>
              <a:t>complex</a:t>
            </a:r>
            <a:r>
              <a:rPr sz="2000" spc="-20" dirty="0">
                <a:latin typeface="Times New Roman"/>
                <a:cs typeface="Times New Roman"/>
              </a:rPr>
              <a:t> </a:t>
            </a:r>
            <a:r>
              <a:rPr sz="2000" spc="-25" dirty="0">
                <a:latin typeface="Times New Roman"/>
                <a:cs typeface="Times New Roman"/>
              </a:rPr>
              <a:t>and </a:t>
            </a:r>
            <a:r>
              <a:rPr sz="2000" dirty="0">
                <a:latin typeface="Times New Roman"/>
                <a:cs typeface="Times New Roman"/>
              </a:rPr>
              <a:t>difficult</a:t>
            </a:r>
            <a:r>
              <a:rPr sz="2000" spc="-70"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spc="-10" dirty="0">
                <a:latin typeface="Times New Roman"/>
                <a:cs typeface="Times New Roman"/>
              </a:rPr>
              <a:t>interpret</a:t>
            </a:r>
            <a:endParaRPr lang="en-US" sz="2000" spc="-10" dirty="0">
              <a:latin typeface="Times New Roman"/>
              <a:cs typeface="Times New Roman"/>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Patient Privacy</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data security and compliance with regulations like HIPAA and GDPR.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Interpretability</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machine learning predictions understandable for non-technical users.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Generalization</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Developing models that work across diverse trials and patient populations.</a:t>
            </a: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Complex Feature Selection</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Identifying key factors that influence patient retention from complex, multi-        dimensional data       </a:t>
            </a:r>
          </a:p>
          <a:p>
            <a:pPr marL="0" marR="0" lvl="0" indent="0" algn="just" defTabSz="914400" rtl="0" eaLnBrk="0" fontAlgn="base" latinLnBrk="0" hangingPunct="0">
              <a:lnSpc>
                <a:spcPct val="100000"/>
              </a:lnSpc>
              <a:spcBef>
                <a:spcPct val="0"/>
              </a:spcBef>
              <a:spcAft>
                <a:spcPct val="0"/>
              </a:spcAft>
              <a:buClrTx/>
              <a:buSzTx/>
              <a:tabLst/>
            </a:pPr>
            <a:endParaRPr lang="en-US" sz="2000"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lang="en-US" sz="2000" b="1" dirty="0">
                <a:latin typeface="Times New Roman" panose="02020603050405020304" pitchFamily="18" charset="0"/>
                <a:cs typeface="Times New Roman" panose="02020603050405020304" pitchFamily="18" charset="0"/>
              </a:rPr>
              <a:t>   Real-Time Processing</a:t>
            </a:r>
            <a:r>
              <a:rPr lang="en-US" sz="2000" dirty="0">
                <a:latin typeface="Times New Roman" panose="02020603050405020304" pitchFamily="18" charset="0"/>
                <a:cs typeface="Times New Roman" panose="02020603050405020304" pitchFamily="18" charset="0"/>
              </a:rPr>
              <a:t>: Ensuring the web platform provides timely, accurate predictions and recommendations.</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41300" marR="299720" indent="-228600" algn="just">
              <a:lnSpc>
                <a:spcPts val="2160"/>
              </a:lnSpc>
              <a:spcBef>
                <a:spcPts val="1010"/>
              </a:spcBef>
              <a:buFont typeface="Arial"/>
              <a:buChar char="•"/>
              <a:tabLst>
                <a:tab pos="240665" algn="l"/>
                <a:tab pos="241300" algn="l"/>
              </a:tabLst>
            </a:pPr>
            <a:endParaRPr sz="2000" dirty="0">
              <a:latin typeface="Times New Roman"/>
              <a:cs typeface="Times New Roman"/>
            </a:endParaRPr>
          </a:p>
          <a:p>
            <a:pPr marL="241300" indent="-228600">
              <a:lnSpc>
                <a:spcPct val="100000"/>
              </a:lnSpc>
              <a:spcBef>
                <a:spcPts val="730"/>
              </a:spcBef>
              <a:buFont typeface="Arial"/>
              <a:buChar char="•"/>
              <a:tabLst>
                <a:tab pos="240665" algn="l"/>
                <a:tab pos="241300" algn="l"/>
              </a:tabLst>
            </a:pPr>
            <a:endParaRPr sz="2000" dirty="0">
              <a:latin typeface="Times New Roman"/>
              <a:cs typeface="Times New Roman"/>
            </a:endParaRPr>
          </a:p>
        </p:txBody>
      </p:sp>
      <p:pic>
        <p:nvPicPr>
          <p:cNvPr id="4" name="object 4"/>
          <p:cNvPicPr/>
          <p:nvPr/>
        </p:nvPicPr>
        <p:blipFill>
          <a:blip r:embed="rId2" cstate="print"/>
          <a:stretch>
            <a:fillRect/>
          </a:stretch>
        </p:blipFill>
        <p:spPr>
          <a:xfrm>
            <a:off x="1371600" y="67246"/>
            <a:ext cx="9314688" cy="8275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74295">
              <a:lnSpc>
                <a:spcPct val="100000"/>
              </a:lnSpc>
              <a:spcBef>
                <a:spcPts val="95"/>
              </a:spcBef>
            </a:pPr>
            <a:r>
              <a:rPr spc="-105" dirty="0"/>
              <a:t>DATASET</a:t>
            </a:r>
            <a:r>
              <a:rPr spc="-260" dirty="0"/>
              <a:t> </a:t>
            </a:r>
            <a:r>
              <a:rPr dirty="0"/>
              <a:t>AND</a:t>
            </a:r>
            <a:r>
              <a:rPr spc="-15" dirty="0"/>
              <a:t> </a:t>
            </a:r>
            <a:r>
              <a:rPr spc="-25" dirty="0"/>
              <a:t>MODEL</a:t>
            </a:r>
            <a:r>
              <a:rPr spc="-185" dirty="0"/>
              <a:t> </a:t>
            </a:r>
            <a:r>
              <a:rPr spc="-10" dirty="0"/>
              <a:t>DESCRIPTION</a:t>
            </a:r>
            <a:r>
              <a:rPr sz="2900" spc="-10" dirty="0"/>
              <a:t>:</a:t>
            </a:r>
            <a:endParaRPr sz="2900"/>
          </a:p>
        </p:txBody>
      </p:sp>
      <p:sp>
        <p:nvSpPr>
          <p:cNvPr id="3" name="object 3"/>
          <p:cNvSpPr txBox="1"/>
          <p:nvPr/>
        </p:nvSpPr>
        <p:spPr>
          <a:xfrm>
            <a:off x="824364" y="2818950"/>
            <a:ext cx="10360025" cy="2813591"/>
          </a:xfrm>
          <a:prstGeom prst="rect">
            <a:avLst/>
          </a:prstGeom>
        </p:spPr>
        <p:txBody>
          <a:bodyPr vert="horz" wrap="square" lIns="0" tIns="43180" rIns="0" bIns="0" rtlCol="0">
            <a:spAutoFit/>
          </a:bodyPr>
          <a:lstStyle/>
          <a:p>
            <a:pPr marL="12700" marR="5080" algn="just">
              <a:lnSpc>
                <a:spcPct val="90000"/>
              </a:lnSpc>
              <a:spcBef>
                <a:spcPts val="340"/>
              </a:spcBef>
            </a:pPr>
            <a:r>
              <a:rPr lang="en-US" sz="2000" dirty="0">
                <a:latin typeface="Times New Roman" panose="02020603050405020304" pitchFamily="18" charset="0"/>
                <a:cs typeface="Times New Roman" panose="02020603050405020304" pitchFamily="18" charset="0"/>
              </a:rPr>
              <a:t>The dataset for this clinical trial project comprises several key features aimed at predicting patient dropout and retention. It includes </a:t>
            </a:r>
            <a:r>
              <a:rPr lang="en-US" sz="2000" b="1" dirty="0">
                <a:latin typeface="Times New Roman" panose="02020603050405020304" pitchFamily="18" charset="0"/>
                <a:cs typeface="Times New Roman" panose="02020603050405020304" pitchFamily="18" charset="0"/>
              </a:rPr>
              <a:t>patient demographics</a:t>
            </a:r>
            <a:r>
              <a:rPr lang="en-US" sz="2000" dirty="0">
                <a:latin typeface="Times New Roman" panose="02020603050405020304" pitchFamily="18" charset="0"/>
                <a:cs typeface="Times New Roman" panose="02020603050405020304" pitchFamily="18" charset="0"/>
              </a:rPr>
              <a:t> such as age, gender, race, ethnicity, and geographical location, which may influence the likelihood of a patient dropping out. The dataset also captures </a:t>
            </a:r>
            <a:r>
              <a:rPr lang="en-US" sz="2000" b="1" dirty="0">
                <a:latin typeface="Times New Roman" panose="02020603050405020304" pitchFamily="18" charset="0"/>
                <a:cs typeface="Times New Roman" panose="02020603050405020304" pitchFamily="18" charset="0"/>
              </a:rPr>
              <a:t>enrollment stages</a:t>
            </a:r>
            <a:r>
              <a:rPr lang="en-US" sz="2000" dirty="0">
                <a:latin typeface="Times New Roman" panose="02020603050405020304" pitchFamily="18" charset="0"/>
                <a:cs typeface="Times New Roman" panose="02020603050405020304" pitchFamily="18" charset="0"/>
              </a:rPr>
              <a:t>, covering milestones like screening, informed consent, randomization, treatment initiation, and follow-up, providing insights into the patient's progression throughout the trial. Additionally, </a:t>
            </a:r>
            <a:r>
              <a:rPr lang="en-US" sz="2000" b="1" dirty="0">
                <a:latin typeface="Times New Roman" panose="02020603050405020304" pitchFamily="18" charset="0"/>
                <a:cs typeface="Times New Roman" panose="02020603050405020304" pitchFamily="18" charset="0"/>
              </a:rPr>
              <a:t>dropout reasons</a:t>
            </a:r>
            <a:r>
              <a:rPr lang="en-US" sz="2000" dirty="0">
                <a:latin typeface="Times New Roman" panose="02020603050405020304" pitchFamily="18" charset="0"/>
                <a:cs typeface="Times New Roman" panose="02020603050405020304" pitchFamily="18" charset="0"/>
              </a:rPr>
              <a:t> such as loss to follow-up, adverse events, protocol violations, and patient withdrawal are recorded, helping to identify the main causes of attrition. Each patient is assigned a unique </a:t>
            </a:r>
            <a:r>
              <a:rPr lang="en-US" sz="2000" b="1" dirty="0">
                <a:latin typeface="Times New Roman" panose="02020603050405020304" pitchFamily="18" charset="0"/>
                <a:cs typeface="Times New Roman" panose="02020603050405020304" pitchFamily="18" charset="0"/>
              </a:rPr>
              <a:t>patient ID</a:t>
            </a:r>
            <a:r>
              <a:rPr lang="en-US" sz="2000" dirty="0">
                <a:latin typeface="Times New Roman" panose="02020603050405020304" pitchFamily="18" charset="0"/>
                <a:cs typeface="Times New Roman" panose="02020603050405020304" pitchFamily="18" charset="0"/>
              </a:rPr>
              <a:t>, linking their demographic and trial-related data. The target variable, </a:t>
            </a:r>
            <a:r>
              <a:rPr lang="en-US" sz="2000" b="1" dirty="0">
                <a:latin typeface="Times New Roman" panose="02020603050405020304" pitchFamily="18" charset="0"/>
                <a:cs typeface="Times New Roman" panose="02020603050405020304" pitchFamily="18" charset="0"/>
              </a:rPr>
              <a:t>churn</a:t>
            </a:r>
            <a:r>
              <a:rPr lang="en-US" sz="2000" dirty="0">
                <a:latin typeface="Times New Roman" panose="02020603050405020304" pitchFamily="18" charset="0"/>
                <a:cs typeface="Times New Roman" panose="02020603050405020304" pitchFamily="18" charset="0"/>
              </a:rPr>
              <a:t>, is used to predict whether a patient will continue with the trial (0) or drop out (1), enabling the development of strategies to enhance patient retention and reduce dropout rates.</a:t>
            </a:r>
            <a:endParaRPr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676400"/>
            <a:ext cx="10529417" cy="632736"/>
          </a:xfrm>
          <a:prstGeom prst="rect">
            <a:avLst/>
          </a:prstGeom>
        </p:spPr>
        <p:txBody>
          <a:bodyPr vert="horz" wrap="square" lIns="0" tIns="108457" rIns="0" bIns="0" rtlCol="0">
            <a:spAutoFit/>
          </a:bodyPr>
          <a:lstStyle/>
          <a:p>
            <a:pPr marL="365760">
              <a:lnSpc>
                <a:spcPct val="100000"/>
              </a:lnSpc>
              <a:spcBef>
                <a:spcPts val="95"/>
              </a:spcBef>
            </a:pPr>
            <a:r>
              <a:rPr dirty="0"/>
              <a:t>WORK</a:t>
            </a:r>
            <a:r>
              <a:rPr spc="-100" dirty="0"/>
              <a:t> </a:t>
            </a:r>
            <a:r>
              <a:rPr spc="-10" dirty="0"/>
              <a:t>FLOW</a:t>
            </a:r>
            <a:r>
              <a:rPr lang="en-US" spc="-10" dirty="0"/>
              <a:t> / METHODOLOGY</a:t>
            </a:r>
            <a:r>
              <a:rPr b="0" spc="-10" dirty="0">
                <a:latin typeface="Times New Roman"/>
                <a:cs typeface="Times New Roman"/>
              </a:rPr>
              <a:t>:</a:t>
            </a:r>
          </a:p>
        </p:txBody>
      </p:sp>
      <p:sp>
        <p:nvSpPr>
          <p:cNvPr id="3" name="object 3"/>
          <p:cNvSpPr txBox="1"/>
          <p:nvPr/>
        </p:nvSpPr>
        <p:spPr>
          <a:xfrm>
            <a:off x="1532000" y="2966223"/>
            <a:ext cx="3910965" cy="2468625"/>
          </a:xfrm>
          <a:prstGeom prst="rect">
            <a:avLst/>
          </a:prstGeom>
        </p:spPr>
        <p:txBody>
          <a:bodyPr vert="horz" wrap="square" lIns="0" tIns="107950" rIns="0" bIns="0" rtlCol="0">
            <a:spAutoFit/>
          </a:bodyPr>
          <a:lstStyle/>
          <a:p>
            <a:pPr marL="241300" indent="-229235">
              <a:lnSpc>
                <a:spcPct val="100000"/>
              </a:lnSpc>
              <a:spcBef>
                <a:spcPts val="850"/>
              </a:spcBef>
              <a:buFont typeface="Wingdings"/>
              <a:buChar char=""/>
              <a:tabLst>
                <a:tab pos="241935" algn="l"/>
              </a:tabLst>
            </a:pPr>
            <a:r>
              <a:rPr sz="2000" dirty="0">
                <a:latin typeface="Times New Roman"/>
                <a:cs typeface="Times New Roman"/>
              </a:rPr>
              <a:t>Problem</a:t>
            </a:r>
            <a:r>
              <a:rPr sz="2000" spc="-155" dirty="0">
                <a:latin typeface="Times New Roman"/>
                <a:cs typeface="Times New Roman"/>
              </a:rPr>
              <a:t> </a:t>
            </a:r>
            <a:r>
              <a:rPr sz="2000" spc="-10" dirty="0">
                <a:latin typeface="Times New Roman"/>
                <a:cs typeface="Times New Roman"/>
              </a:rPr>
              <a:t>Analysis</a:t>
            </a:r>
            <a:endParaRPr sz="2000" dirty="0">
              <a:latin typeface="Times New Roman"/>
              <a:cs typeface="Times New Roman"/>
            </a:endParaRPr>
          </a:p>
          <a:p>
            <a:pPr marL="241300" indent="-229235">
              <a:lnSpc>
                <a:spcPct val="100000"/>
              </a:lnSpc>
              <a:spcBef>
                <a:spcPts val="755"/>
              </a:spcBef>
              <a:buFont typeface="Wingdings"/>
              <a:buChar char=""/>
              <a:tabLst>
                <a:tab pos="241935" algn="l"/>
              </a:tabLst>
            </a:pPr>
            <a:r>
              <a:rPr sz="2000" dirty="0">
                <a:latin typeface="Times New Roman"/>
                <a:cs typeface="Times New Roman"/>
              </a:rPr>
              <a:t>Data</a:t>
            </a:r>
            <a:r>
              <a:rPr sz="2000" spc="-35" dirty="0">
                <a:latin typeface="Times New Roman"/>
                <a:cs typeface="Times New Roman"/>
              </a:rPr>
              <a:t> </a:t>
            </a:r>
            <a:r>
              <a:rPr sz="2000" dirty="0">
                <a:latin typeface="Times New Roman"/>
                <a:cs typeface="Times New Roman"/>
              </a:rPr>
              <a:t>Collection</a:t>
            </a:r>
            <a:r>
              <a:rPr sz="2000" spc="-30"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lang="en-US" sz="2000" spc="-30" dirty="0">
                <a:latin typeface="Times New Roman"/>
                <a:cs typeface="Times New Roman"/>
              </a:rPr>
              <a:t>Preprocessing</a:t>
            </a:r>
          </a:p>
          <a:p>
            <a:pPr marL="241300" indent="-229235">
              <a:lnSpc>
                <a:spcPct val="100000"/>
              </a:lnSpc>
              <a:spcBef>
                <a:spcPts val="755"/>
              </a:spcBef>
              <a:buFont typeface="Wingdings"/>
              <a:buChar char=""/>
              <a:tabLst>
                <a:tab pos="241935" algn="l"/>
              </a:tabLst>
            </a:pPr>
            <a:r>
              <a:rPr lang="en-US" sz="2000" spc="-30" dirty="0">
                <a:latin typeface="Times New Roman"/>
                <a:cs typeface="Times New Roman"/>
              </a:rPr>
              <a:t>Data Visualization ,Model Selection</a:t>
            </a:r>
          </a:p>
          <a:p>
            <a:pPr marL="241300" indent="-229235">
              <a:lnSpc>
                <a:spcPct val="100000"/>
              </a:lnSpc>
              <a:spcBef>
                <a:spcPts val="755"/>
              </a:spcBef>
              <a:buFont typeface="Wingdings"/>
              <a:buChar char=""/>
              <a:tabLst>
                <a:tab pos="241935" algn="l"/>
              </a:tabLst>
            </a:pPr>
            <a:r>
              <a:rPr sz="2000" dirty="0">
                <a:latin typeface="Times New Roman"/>
                <a:cs typeface="Times New Roman"/>
              </a:rPr>
              <a:t>Model</a:t>
            </a:r>
            <a:r>
              <a:rPr sz="2000" spc="-35" dirty="0">
                <a:latin typeface="Times New Roman"/>
                <a:cs typeface="Times New Roman"/>
              </a:rPr>
              <a:t> </a:t>
            </a:r>
            <a:r>
              <a:rPr sz="2000" dirty="0">
                <a:latin typeface="Times New Roman"/>
                <a:cs typeface="Times New Roman"/>
              </a:rPr>
              <a:t>Development</a:t>
            </a:r>
            <a:r>
              <a:rPr sz="2000" spc="-30" dirty="0">
                <a:latin typeface="Times New Roman"/>
                <a:cs typeface="Times New Roman"/>
              </a:rPr>
              <a:t> </a:t>
            </a:r>
            <a:r>
              <a:rPr sz="2000" dirty="0">
                <a:latin typeface="Times New Roman"/>
                <a:cs typeface="Times New Roman"/>
              </a:rPr>
              <a:t>and</a:t>
            </a:r>
            <a:r>
              <a:rPr sz="2000" spc="-55" dirty="0">
                <a:latin typeface="Times New Roman"/>
                <a:cs typeface="Times New Roman"/>
              </a:rPr>
              <a:t> </a:t>
            </a:r>
            <a:r>
              <a:rPr sz="2000" spc="-10" dirty="0">
                <a:latin typeface="Times New Roman"/>
                <a:cs typeface="Times New Roman"/>
              </a:rPr>
              <a:t>Training</a:t>
            </a:r>
            <a:endParaRPr sz="2000" dirty="0">
              <a:latin typeface="Times New Roman"/>
              <a:cs typeface="Times New Roman"/>
            </a:endParaRPr>
          </a:p>
          <a:p>
            <a:pPr marL="241300" indent="-229235">
              <a:lnSpc>
                <a:spcPct val="100000"/>
              </a:lnSpc>
              <a:spcBef>
                <a:spcPts val="755"/>
              </a:spcBef>
              <a:buFont typeface="Wingdings"/>
              <a:buChar char=""/>
              <a:tabLst>
                <a:tab pos="241935" algn="l"/>
              </a:tabLst>
            </a:pPr>
            <a:r>
              <a:rPr sz="2000" dirty="0">
                <a:latin typeface="Times New Roman"/>
                <a:cs typeface="Times New Roman"/>
              </a:rPr>
              <a:t>Model</a:t>
            </a:r>
            <a:r>
              <a:rPr sz="2000" spc="-30" dirty="0">
                <a:latin typeface="Times New Roman"/>
                <a:cs typeface="Times New Roman"/>
              </a:rPr>
              <a:t> </a:t>
            </a:r>
            <a:r>
              <a:rPr sz="2000" dirty="0">
                <a:latin typeface="Times New Roman"/>
                <a:cs typeface="Times New Roman"/>
              </a:rPr>
              <a:t>Evaluation</a:t>
            </a:r>
            <a:r>
              <a:rPr sz="2000" spc="-3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10" dirty="0">
                <a:latin typeface="Times New Roman"/>
                <a:cs typeface="Times New Roman"/>
              </a:rPr>
              <a:t>Optimization</a:t>
            </a:r>
            <a:endParaRPr sz="2000" dirty="0">
              <a:latin typeface="Times New Roman"/>
              <a:cs typeface="Times New Roman"/>
            </a:endParaRPr>
          </a:p>
          <a:p>
            <a:pPr marL="241300" indent="-229235">
              <a:lnSpc>
                <a:spcPct val="100000"/>
              </a:lnSpc>
              <a:spcBef>
                <a:spcPts val="760"/>
              </a:spcBef>
              <a:buFont typeface="Wingdings"/>
              <a:buChar char=""/>
              <a:tabLst>
                <a:tab pos="241935" algn="l"/>
              </a:tabLst>
            </a:pPr>
            <a:r>
              <a:rPr sz="2000" dirty="0">
                <a:latin typeface="Times New Roman"/>
                <a:cs typeface="Times New Roman"/>
              </a:rPr>
              <a:t>Deployment</a:t>
            </a:r>
            <a:r>
              <a:rPr sz="2000" spc="-25"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spc="-10" dirty="0">
                <a:latin typeface="Times New Roman"/>
                <a:cs typeface="Times New Roman"/>
              </a:rPr>
              <a:t>Maintenance</a:t>
            </a:r>
            <a:endParaRPr sz="2000" dirty="0">
              <a:latin typeface="Times New Roman"/>
              <a:cs typeface="Times New Roman"/>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1253" y="993356"/>
            <a:ext cx="5577205" cy="543560"/>
          </a:xfrm>
          <a:prstGeom prst="rect">
            <a:avLst/>
          </a:prstGeom>
        </p:spPr>
        <p:txBody>
          <a:bodyPr vert="horz" wrap="square" lIns="0" tIns="12065" rIns="0" bIns="0" rtlCol="0">
            <a:spAutoFit/>
          </a:bodyPr>
          <a:lstStyle/>
          <a:p>
            <a:pPr marL="12700">
              <a:lnSpc>
                <a:spcPct val="100000"/>
              </a:lnSpc>
              <a:spcBef>
                <a:spcPts val="95"/>
              </a:spcBef>
            </a:pPr>
            <a:r>
              <a:rPr spc="-30" dirty="0"/>
              <a:t>TECHNICAL</a:t>
            </a:r>
            <a:r>
              <a:rPr spc="-185" dirty="0"/>
              <a:t> </a:t>
            </a:r>
            <a:r>
              <a:rPr spc="-40" dirty="0"/>
              <a:t>STACK</a:t>
            </a:r>
            <a:r>
              <a:rPr spc="-110" dirty="0"/>
              <a:t> </a:t>
            </a:r>
            <a:r>
              <a:rPr spc="-10" dirty="0"/>
              <a:t>USED:</a:t>
            </a:r>
          </a:p>
        </p:txBody>
      </p:sp>
      <p:sp>
        <p:nvSpPr>
          <p:cNvPr id="3" name="object 3"/>
          <p:cNvSpPr txBox="1"/>
          <p:nvPr/>
        </p:nvSpPr>
        <p:spPr>
          <a:xfrm>
            <a:off x="241058" y="1571552"/>
            <a:ext cx="11734799" cy="6895734"/>
          </a:xfrm>
          <a:prstGeom prst="rect">
            <a:avLst/>
          </a:prstGeom>
        </p:spPr>
        <p:txBody>
          <a:bodyPr vert="horz" wrap="square" lIns="0" tIns="12700" rIns="0" bIns="0" rtlCol="0">
            <a:spAutoFit/>
          </a:bodyPr>
          <a:lstStyle/>
          <a:p>
            <a:pPr marL="12700" marR="1615440">
              <a:lnSpc>
                <a:spcPct val="131500"/>
              </a:lnSpc>
              <a:spcBef>
                <a:spcPts val="100"/>
              </a:spcBef>
            </a:pP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this</a:t>
            </a:r>
            <a:r>
              <a:rPr sz="2000" spc="-30" dirty="0">
                <a:latin typeface="Times New Roman"/>
                <a:cs typeface="Times New Roman"/>
              </a:rPr>
              <a:t> </a:t>
            </a:r>
            <a:r>
              <a:rPr sz="2000" dirty="0">
                <a:latin typeface="Times New Roman"/>
                <a:cs typeface="Times New Roman"/>
              </a:rPr>
              <a:t>project</a:t>
            </a:r>
            <a:r>
              <a:rPr sz="2000" spc="-40" dirty="0">
                <a:latin typeface="Times New Roman"/>
                <a:cs typeface="Times New Roman"/>
              </a:rPr>
              <a:t> </a:t>
            </a:r>
            <a:r>
              <a:rPr sz="2000" dirty="0">
                <a:latin typeface="Times New Roman"/>
                <a:cs typeface="Times New Roman"/>
              </a:rPr>
              <a:t>standard</a:t>
            </a:r>
            <a:r>
              <a:rPr sz="2000" spc="-40" dirty="0">
                <a:latin typeface="Times New Roman"/>
                <a:cs typeface="Times New Roman"/>
              </a:rPr>
              <a:t> </a:t>
            </a:r>
            <a:r>
              <a:rPr sz="2000" dirty="0">
                <a:latin typeface="Times New Roman"/>
                <a:cs typeface="Times New Roman"/>
              </a:rPr>
              <a:t>libraries</a:t>
            </a:r>
            <a:r>
              <a:rPr sz="2000" spc="-55"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dirty="0">
                <a:latin typeface="Times New Roman"/>
                <a:cs typeface="Times New Roman"/>
              </a:rPr>
              <a:t>information</a:t>
            </a:r>
            <a:r>
              <a:rPr sz="2000" spc="-45" dirty="0">
                <a:latin typeface="Times New Roman"/>
                <a:cs typeface="Times New Roman"/>
              </a:rPr>
              <a:t> </a:t>
            </a:r>
            <a:r>
              <a:rPr sz="2000" dirty="0">
                <a:latin typeface="Times New Roman"/>
                <a:cs typeface="Times New Roman"/>
              </a:rPr>
              <a:t>analysis</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model</a:t>
            </a:r>
            <a:r>
              <a:rPr sz="2000" spc="-20" dirty="0">
                <a:latin typeface="Times New Roman"/>
                <a:cs typeface="Times New Roman"/>
              </a:rPr>
              <a:t> </a:t>
            </a:r>
            <a:r>
              <a:rPr sz="2000" dirty="0">
                <a:latin typeface="Times New Roman"/>
                <a:cs typeface="Times New Roman"/>
              </a:rPr>
              <a:t>creation</a:t>
            </a:r>
            <a:r>
              <a:rPr sz="2000" spc="-30" dirty="0">
                <a:latin typeface="Times New Roman"/>
                <a:cs typeface="Times New Roman"/>
              </a:rPr>
              <a:t> </a:t>
            </a:r>
            <a:r>
              <a:rPr sz="2000" dirty="0">
                <a:latin typeface="Times New Roman"/>
                <a:cs typeface="Times New Roman"/>
              </a:rPr>
              <a:t>are</a:t>
            </a:r>
            <a:r>
              <a:rPr sz="2000" spc="-10" dirty="0">
                <a:latin typeface="Times New Roman"/>
                <a:cs typeface="Times New Roman"/>
              </a:rPr>
              <a:t> used.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following</a:t>
            </a:r>
            <a:r>
              <a:rPr sz="2000" spc="-45" dirty="0">
                <a:latin typeface="Times New Roman"/>
                <a:cs typeface="Times New Roman"/>
              </a:rPr>
              <a:t> </a:t>
            </a:r>
            <a:r>
              <a:rPr sz="2000" dirty="0">
                <a:latin typeface="Times New Roman"/>
                <a:cs typeface="Times New Roman"/>
              </a:rPr>
              <a:t>libraries</a:t>
            </a:r>
            <a:r>
              <a:rPr sz="2000" spc="-55" dirty="0">
                <a:latin typeface="Times New Roman"/>
                <a:cs typeface="Times New Roman"/>
              </a:rPr>
              <a:t> </a:t>
            </a:r>
            <a:r>
              <a:rPr sz="2000" dirty="0">
                <a:latin typeface="Times New Roman"/>
                <a:cs typeface="Times New Roman"/>
              </a:rPr>
              <a:t>are</a:t>
            </a:r>
            <a:r>
              <a:rPr sz="2000" spc="-10" dirty="0">
                <a:latin typeface="Times New Roman"/>
                <a:cs typeface="Times New Roman"/>
              </a:rPr>
              <a:t> </a:t>
            </a:r>
            <a:r>
              <a:rPr sz="2000" dirty="0">
                <a:latin typeface="Times New Roman"/>
                <a:cs typeface="Times New Roman"/>
              </a:rPr>
              <a:t>utilized</a:t>
            </a:r>
            <a:r>
              <a:rPr sz="2000" spc="-3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spc="-10" dirty="0">
                <a:latin typeface="Times New Roman"/>
                <a:cs typeface="Times New Roman"/>
              </a:rPr>
              <a:t>project:</a:t>
            </a:r>
            <a:endParaRPr lang="en-US" sz="2000" spc="-10" dirty="0">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Libraries</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data manipulation and cleaning.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NumPy</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numerical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SciPy</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statistical operations and hypothesis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Visualization</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Matplotlib</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Seaborn</a:t>
            </a: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generating plots and visualizing data distributions, trends, and relationships between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2000" dirty="0">
              <a:solidFill>
                <a:schemeClr val="tx1"/>
              </a:solidFill>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Machine Learning Libraries :</a:t>
            </a:r>
            <a:r>
              <a:rPr lang="en-US" sz="2000" b="1" dirty="0" err="1">
                <a:latin typeface="Times New Roman" panose="02020603050405020304" pitchFamily="18" charset="0"/>
                <a:cs typeface="Times New Roman" panose="02020603050405020304" pitchFamily="18" charset="0"/>
              </a:rPr>
              <a:t>Scikit</a:t>
            </a:r>
            <a:r>
              <a:rPr lang="en-US" sz="2000" b="1" dirty="0">
                <a:latin typeface="Times New Roman" panose="02020603050405020304" pitchFamily="18" charset="0"/>
                <a:cs typeface="Times New Roman" panose="02020603050405020304" pitchFamily="18" charset="0"/>
              </a:rPr>
              <a:t>-learn</a:t>
            </a:r>
            <a:r>
              <a:rPr lang="en-US" sz="2000" dirty="0">
                <a:latin typeface="Times New Roman" panose="02020603050405020304" pitchFamily="18" charset="0"/>
                <a:cs typeface="Times New Roman" panose="02020603050405020304" pitchFamily="18" charset="0"/>
              </a:rPr>
              <a:t> for building and evaluating models such as Random Forest, Gradient Boosting,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Model </a:t>
            </a:r>
            <a:r>
              <a:rPr lang="en-US" sz="2000" b="1" dirty="0" err="1">
                <a:latin typeface="Times New Roman" panose="02020603050405020304" pitchFamily="18" charset="0"/>
                <a:cs typeface="Times New Roman" panose="02020603050405020304" pitchFamily="18" charset="0"/>
              </a:rPr>
              <a:t>Evaluation</a:t>
            </a:r>
            <a:r>
              <a:rPr lang="en-US" sz="2000" dirty="0" err="1">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Scikit-learn</a:t>
            </a:r>
            <a:r>
              <a:rPr lang="en-US" sz="2000" b="1" dirty="0">
                <a:latin typeface="Times New Roman" panose="02020603050405020304" pitchFamily="18" charset="0"/>
                <a:cs typeface="Times New Roman" panose="02020603050405020304" pitchFamily="18" charset="0"/>
              </a:rPr>
              <a:t> metrics</a:t>
            </a:r>
            <a:r>
              <a:rPr lang="en-US" sz="2000" dirty="0">
                <a:latin typeface="Times New Roman" panose="02020603050405020304" pitchFamily="18" charset="0"/>
                <a:cs typeface="Times New Roman" panose="02020603050405020304" pitchFamily="18" charset="0"/>
              </a:rPr>
              <a:t> for evaluating model performance with accuracy, precision, recall, F1-score, and AUC.</a:t>
            </a:r>
          </a:p>
          <a:p>
            <a:pPr algn="l" rtl="0" eaLnBrk="0" fontAlgn="base" hangingPunct="0">
              <a:spcBef>
                <a:spcPct val="0"/>
              </a:spcBef>
              <a:spcAft>
                <a:spcPct val="0"/>
              </a:spcAft>
              <a:buFontTx/>
              <a:buChar char="•"/>
            </a:pPr>
            <a:endParaRPr lang="en-US" sz="20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Web Development </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Html,Css,Js</a:t>
            </a:r>
            <a:endParaRPr lang="en-US" sz="20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buFontTx/>
              <a:buChar char="•"/>
            </a:pPr>
            <a:endParaRPr lang="en-US"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700" marR="1615440">
              <a:lnSpc>
                <a:spcPct val="131500"/>
              </a:lnSpc>
              <a:spcBef>
                <a:spcPts val="100"/>
              </a:spcBef>
            </a:pPr>
            <a:endParaRPr lang="en-US" sz="2000" spc="-10" dirty="0">
              <a:latin typeface="Times New Roman"/>
              <a:cs typeface="Times New Roman"/>
            </a:endParaRPr>
          </a:p>
          <a:p>
            <a:pPr marL="12700" marR="1615440">
              <a:lnSpc>
                <a:spcPct val="131500"/>
              </a:lnSpc>
              <a:spcBef>
                <a:spcPts val="100"/>
              </a:spcBef>
            </a:pPr>
            <a:endParaRPr sz="2000" dirty="0">
              <a:latin typeface="Times New Roman"/>
              <a:cs typeface="Times New Roman"/>
            </a:endParaRPr>
          </a:p>
        </p:txBody>
      </p:sp>
      <p:pic>
        <p:nvPicPr>
          <p:cNvPr id="4" name="object 4"/>
          <p:cNvPicPr/>
          <p:nvPr/>
        </p:nvPicPr>
        <p:blipFill>
          <a:blip r:embed="rId2" cstate="print"/>
          <a:stretch>
            <a:fillRect/>
          </a:stretch>
        </p:blipFill>
        <p:spPr>
          <a:xfrm>
            <a:off x="1295400" y="51385"/>
            <a:ext cx="9314688" cy="8275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600200"/>
            <a:ext cx="10529417" cy="535403"/>
          </a:xfrm>
          <a:prstGeom prst="rect">
            <a:avLst/>
          </a:prstGeom>
        </p:spPr>
        <p:txBody>
          <a:bodyPr vert="horz" wrap="square" lIns="0" tIns="12065" rIns="0" bIns="0" rtlCol="0">
            <a:spAutoFit/>
          </a:bodyPr>
          <a:lstStyle/>
          <a:p>
            <a:pPr marL="180340">
              <a:lnSpc>
                <a:spcPct val="100000"/>
              </a:lnSpc>
              <a:spcBef>
                <a:spcPts val="95"/>
              </a:spcBef>
            </a:pPr>
            <a:r>
              <a:rPr lang="en-US" spc="-30"/>
              <a:t>ALGORITHMS USED</a:t>
            </a:r>
            <a:r>
              <a:rPr spc="-30"/>
              <a:t>:</a:t>
            </a:r>
            <a:endParaRPr spc="-30" dirty="0"/>
          </a:p>
        </p:txBody>
      </p:sp>
      <p:sp>
        <p:nvSpPr>
          <p:cNvPr id="3" name="object 3"/>
          <p:cNvSpPr txBox="1"/>
          <p:nvPr/>
        </p:nvSpPr>
        <p:spPr>
          <a:xfrm>
            <a:off x="304800" y="2221474"/>
            <a:ext cx="11284585" cy="4636526"/>
          </a:xfrm>
          <a:prstGeom prst="rect">
            <a:avLst/>
          </a:prstGeom>
        </p:spPr>
        <p:txBody>
          <a:bodyPr vert="horz" wrap="square" lIns="0" tIns="108585" rIns="0" bIns="0" rtlCol="0">
            <a:spAutoFit/>
          </a:bodyPr>
          <a:lstStyle/>
          <a:p>
            <a:pPr marL="241300" indent="-228600">
              <a:lnSpc>
                <a:spcPct val="100000"/>
              </a:lnSpc>
              <a:spcBef>
                <a:spcPts val="855"/>
              </a:spcBef>
              <a:buFont typeface="Wingdings"/>
              <a:buChar char=""/>
              <a:tabLst>
                <a:tab pos="241300" algn="l"/>
              </a:tabLst>
            </a:pP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this</a:t>
            </a:r>
            <a:r>
              <a:rPr sz="2000" spc="-30" dirty="0">
                <a:latin typeface="Times New Roman"/>
                <a:cs typeface="Times New Roman"/>
              </a:rPr>
              <a:t> </a:t>
            </a:r>
            <a:r>
              <a:rPr sz="2000" dirty="0">
                <a:latin typeface="Times New Roman"/>
                <a:cs typeface="Times New Roman"/>
              </a:rPr>
              <a:t>project,</a:t>
            </a:r>
            <a:r>
              <a:rPr sz="2000" spc="-45" dirty="0">
                <a:latin typeface="Times New Roman"/>
                <a:cs typeface="Times New Roman"/>
              </a:rPr>
              <a:t> </a:t>
            </a:r>
            <a:r>
              <a:rPr sz="2000" dirty="0">
                <a:latin typeface="Times New Roman"/>
                <a:cs typeface="Times New Roman"/>
              </a:rPr>
              <a:t>we</a:t>
            </a:r>
            <a:r>
              <a:rPr sz="2000" spc="-5" dirty="0">
                <a:latin typeface="Times New Roman"/>
                <a:cs typeface="Times New Roman"/>
              </a:rPr>
              <a:t> </a:t>
            </a:r>
            <a:r>
              <a:rPr sz="2000" dirty="0">
                <a:latin typeface="Times New Roman"/>
                <a:cs typeface="Times New Roman"/>
              </a:rPr>
              <a:t>elect</a:t>
            </a:r>
            <a:r>
              <a:rPr sz="2000" spc="-2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figure</a:t>
            </a:r>
            <a:r>
              <a:rPr sz="2000" spc="-45" dirty="0">
                <a:latin typeface="Times New Roman"/>
                <a:cs typeface="Times New Roman"/>
              </a:rPr>
              <a:t> </a:t>
            </a:r>
            <a:r>
              <a:rPr sz="2000" dirty="0">
                <a:latin typeface="Times New Roman"/>
                <a:cs typeface="Times New Roman"/>
              </a:rPr>
              <a:t>with</a:t>
            </a:r>
            <a:r>
              <a:rPr sz="2000" spc="-15" dirty="0">
                <a:latin typeface="Times New Roman"/>
                <a:cs typeface="Times New Roman"/>
              </a:rPr>
              <a:t> </a:t>
            </a:r>
            <a:r>
              <a:rPr sz="2000" dirty="0">
                <a:latin typeface="Times New Roman"/>
                <a:cs typeface="Times New Roman"/>
              </a:rPr>
              <a:t>some machine</a:t>
            </a:r>
            <a:r>
              <a:rPr sz="2000" spc="-10" dirty="0">
                <a:latin typeface="Times New Roman"/>
                <a:cs typeface="Times New Roman"/>
              </a:rPr>
              <a:t> </a:t>
            </a:r>
            <a:r>
              <a:rPr sz="2000" dirty="0">
                <a:latin typeface="Times New Roman"/>
                <a:cs typeface="Times New Roman"/>
              </a:rPr>
              <a:t>learning</a:t>
            </a:r>
            <a:r>
              <a:rPr sz="2000" spc="-40" dirty="0">
                <a:latin typeface="Times New Roman"/>
                <a:cs typeface="Times New Roman"/>
              </a:rPr>
              <a:t> </a:t>
            </a:r>
            <a:r>
              <a:rPr sz="2000" dirty="0">
                <a:latin typeface="Times New Roman"/>
                <a:cs typeface="Times New Roman"/>
              </a:rPr>
              <a:t>algorithms</a:t>
            </a:r>
            <a:r>
              <a:rPr sz="2000" spc="-3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which</a:t>
            </a:r>
            <a:r>
              <a:rPr sz="2000" spc="-20" dirty="0">
                <a:latin typeface="Times New Roman"/>
                <a:cs typeface="Times New Roman"/>
              </a:rPr>
              <a:t> are:</a:t>
            </a:r>
            <a:endParaRPr lang="en-US" sz="2000" spc="-20" dirty="0">
              <a:latin typeface="Times New Roman"/>
              <a:cs typeface="Times New Roman"/>
            </a:endParaRPr>
          </a:p>
          <a:p>
            <a:pPr marL="241300" indent="-228600">
              <a:lnSpc>
                <a:spcPct val="100000"/>
              </a:lnSpc>
              <a:spcBef>
                <a:spcPts val="855"/>
              </a:spcBef>
              <a:buFont typeface="Wingdings"/>
              <a:buChar char=""/>
              <a:tabLst>
                <a:tab pos="241300" algn="l"/>
              </a:tabLst>
            </a:pPr>
            <a:endParaRPr sz="2000" dirty="0">
              <a:latin typeface="Times New Roman"/>
              <a:cs typeface="Times New Roman"/>
            </a:endParaRPr>
          </a:p>
          <a:p>
            <a:r>
              <a:rPr lang="en-US" sz="2000" b="1" dirty="0">
                <a:latin typeface="Times New Roman" panose="02020603050405020304" pitchFamily="18" charset="0"/>
                <a:cs typeface="Times New Roman" panose="02020603050405020304" pitchFamily="18" charset="0"/>
              </a:rPr>
              <a:t>Random </a:t>
            </a:r>
            <a:r>
              <a:rPr lang="en-US" sz="2000" b="1" dirty="0" err="1">
                <a:latin typeface="Times New Roman" panose="02020603050405020304" pitchFamily="18" charset="0"/>
                <a:cs typeface="Times New Roman" panose="02020603050405020304" pitchFamily="18" charset="0"/>
              </a:rPr>
              <a:t>Forest:</a:t>
            </a:r>
            <a:r>
              <a:rPr lang="en-US" sz="2000" dirty="0" err="1">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robust ensemble learning method that builds multiple decision trees and merges their results to improve accuracy and reduce </a:t>
            </a:r>
            <a:r>
              <a:rPr lang="en-US" sz="2000" dirty="0" err="1">
                <a:latin typeface="Times New Roman" panose="02020603050405020304" pitchFamily="18" charset="0"/>
                <a:cs typeface="Times New Roman" panose="02020603050405020304" pitchFamily="18" charset="0"/>
              </a:rPr>
              <a:t>overfitting</a:t>
            </a:r>
            <a:r>
              <a:rPr lang="en-US" sz="2000" dirty="0">
                <a:latin typeface="Times New Roman" panose="02020603050405020304" pitchFamily="18" charset="0"/>
                <a:cs typeface="Times New Roman" panose="02020603050405020304" pitchFamily="18" charset="0"/>
              </a:rPr>
              <a:t>. It’s great for handling complex data with many features and can manage both classification and regression tasks.</a:t>
            </a:r>
          </a:p>
          <a:p>
            <a:endParaRPr lang="en-US" sz="2000" dirty="0">
              <a:latin typeface="Times New Roman" panose="02020603050405020304" pitchFamily="18" charset="0"/>
              <a:cs typeface="Times New Roman" panose="02020603050405020304" pitchFamily="18" charset="0"/>
            </a:endParaRPr>
          </a:p>
          <a:p>
            <a:r>
              <a:rPr lang="en-US" sz="2000" b="1" dirty="0" err="1">
                <a:latin typeface="Times New Roman" panose="02020603050405020304" pitchFamily="18" charset="0"/>
                <a:cs typeface="Times New Roman" panose="02020603050405020304" pitchFamily="18" charset="0"/>
              </a:rPr>
              <a:t>XGBoost:</a:t>
            </a:r>
            <a:r>
              <a:rPr lang="en-US" sz="2000" dirty="0" err="1">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gradient boosting technique known for its efficiency and high performance.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builds trees sequentially, where each tree corrects the errors made by the previous one. It’s well-suited for imbalanced data and large datasets.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Gradient </a:t>
            </a:r>
            <a:r>
              <a:rPr lang="en-US" sz="2000" b="1" dirty="0" err="1">
                <a:latin typeface="Times New Roman" panose="02020603050405020304" pitchFamily="18" charset="0"/>
                <a:cs typeface="Times New Roman" panose="02020603050405020304" pitchFamily="18" charset="0"/>
              </a:rPr>
              <a:t>Boosting:</a:t>
            </a:r>
            <a:r>
              <a:rPr lang="en-US" sz="2000" dirty="0" err="1">
                <a:latin typeface="Times New Roman" panose="02020603050405020304" pitchFamily="18" charset="0"/>
                <a:cs typeface="Times New Roman" panose="02020603050405020304" pitchFamily="18" charset="0"/>
              </a:rPr>
              <a:t>Another</a:t>
            </a:r>
            <a:r>
              <a:rPr lang="en-US" sz="2000" dirty="0">
                <a:latin typeface="Times New Roman" panose="02020603050405020304" pitchFamily="18" charset="0"/>
                <a:cs typeface="Times New Roman" panose="02020603050405020304" pitchFamily="18" charset="0"/>
              </a:rPr>
              <a:t> powerful boosting method that creates decision trees sequentially, focusing on the hardest-to-predict data points. It improves predictive accuracy by combining multiple weak models into a strong one, often used for classification tasks.</a:t>
            </a:r>
          </a:p>
          <a:p>
            <a:pPr marL="12700" marR="6350">
              <a:lnSpc>
                <a:spcPts val="2160"/>
              </a:lnSpc>
              <a:spcBef>
                <a:spcPts val="1025"/>
              </a:spcBef>
              <a:tabLst>
                <a:tab pos="241300" algn="l"/>
              </a:tabLst>
            </a:pPr>
            <a:endParaRPr sz="2000" dirty="0">
              <a:latin typeface="Times New Roman"/>
              <a:cs typeface="Times New Roman"/>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712722"/>
            <a:ext cx="3702050" cy="543560"/>
          </a:xfrm>
          <a:prstGeom prst="rect">
            <a:avLst/>
          </a:prstGeom>
        </p:spPr>
        <p:txBody>
          <a:bodyPr vert="horz" wrap="square" lIns="0" tIns="12065" rIns="0" bIns="0" rtlCol="0">
            <a:spAutoFit/>
          </a:bodyPr>
          <a:lstStyle/>
          <a:p>
            <a:pPr marL="12700">
              <a:lnSpc>
                <a:spcPct val="100000"/>
              </a:lnSpc>
              <a:spcBef>
                <a:spcPts val="95"/>
              </a:spcBef>
            </a:pPr>
            <a:r>
              <a:rPr dirty="0"/>
              <a:t>SYSTEM</a:t>
            </a:r>
            <a:r>
              <a:rPr spc="-160" dirty="0"/>
              <a:t> </a:t>
            </a:r>
            <a:r>
              <a:rPr spc="-10" dirty="0"/>
              <a:t>DESIGN:</a:t>
            </a:r>
          </a:p>
        </p:txBody>
      </p:sp>
      <p:sp>
        <p:nvSpPr>
          <p:cNvPr id="3" name="object 3"/>
          <p:cNvSpPr txBox="1"/>
          <p:nvPr/>
        </p:nvSpPr>
        <p:spPr>
          <a:xfrm>
            <a:off x="427126" y="2739008"/>
            <a:ext cx="11339195" cy="2742930"/>
          </a:xfrm>
          <a:prstGeom prst="rect">
            <a:avLst/>
          </a:prstGeom>
        </p:spPr>
        <p:txBody>
          <a:bodyPr vert="horz" wrap="square" lIns="0" tIns="13335" rIns="0" bIns="0" rtlCol="0">
            <a:spAutoFit/>
          </a:bodyPr>
          <a:lstStyle/>
          <a:p>
            <a:pPr marL="241300" indent="-228600">
              <a:lnSpc>
                <a:spcPts val="2160"/>
              </a:lnSpc>
              <a:spcBef>
                <a:spcPts val="105"/>
              </a:spcBef>
              <a:buFont typeface="Wingdings"/>
              <a:buChar char=""/>
              <a:tabLst>
                <a:tab pos="241300" algn="l"/>
              </a:tabLst>
            </a:pPr>
            <a:r>
              <a:rPr sz="2000" dirty="0">
                <a:latin typeface="Times New Roman"/>
                <a:cs typeface="Times New Roman"/>
              </a:rPr>
              <a:t>The</a:t>
            </a:r>
            <a:r>
              <a:rPr sz="2000" spc="385" dirty="0">
                <a:latin typeface="Times New Roman"/>
                <a:cs typeface="Times New Roman"/>
              </a:rPr>
              <a:t> </a:t>
            </a:r>
            <a:r>
              <a:rPr sz="2000" dirty="0">
                <a:latin typeface="Times New Roman"/>
                <a:cs typeface="Times New Roman"/>
              </a:rPr>
              <a:t>overall</a:t>
            </a:r>
            <a:r>
              <a:rPr sz="2000" spc="380" dirty="0">
                <a:latin typeface="Times New Roman"/>
                <a:cs typeface="Times New Roman"/>
              </a:rPr>
              <a:t> </a:t>
            </a:r>
            <a:r>
              <a:rPr lang="en-US" sz="2000" dirty="0">
                <a:latin typeface="Times New Roman"/>
                <a:cs typeface="Times New Roman"/>
              </a:rPr>
              <a:t>churn </a:t>
            </a:r>
            <a:r>
              <a:rPr sz="2000" dirty="0">
                <a:latin typeface="Times New Roman"/>
                <a:cs typeface="Times New Roman"/>
              </a:rPr>
              <a:t>prediction</a:t>
            </a:r>
            <a:r>
              <a:rPr lang="en-US" sz="2000" dirty="0">
                <a:latin typeface="Times New Roman"/>
                <a:cs typeface="Times New Roman"/>
              </a:rPr>
              <a:t> in clinical trail</a:t>
            </a:r>
            <a:r>
              <a:rPr sz="2000" spc="400" dirty="0">
                <a:latin typeface="Times New Roman"/>
                <a:cs typeface="Times New Roman"/>
              </a:rPr>
              <a:t> </a:t>
            </a:r>
            <a:r>
              <a:rPr sz="2000" dirty="0">
                <a:latin typeface="Times New Roman"/>
                <a:cs typeface="Times New Roman"/>
              </a:rPr>
              <a:t>system</a:t>
            </a:r>
            <a:r>
              <a:rPr sz="2000" spc="375" dirty="0">
                <a:latin typeface="Times New Roman"/>
                <a:cs typeface="Times New Roman"/>
              </a:rPr>
              <a:t> </a:t>
            </a:r>
            <a:r>
              <a:rPr sz="2000" dirty="0">
                <a:latin typeface="Times New Roman"/>
                <a:cs typeface="Times New Roman"/>
              </a:rPr>
              <a:t>performs</a:t>
            </a:r>
            <a:r>
              <a:rPr sz="2000" spc="405" dirty="0">
                <a:latin typeface="Times New Roman"/>
                <a:cs typeface="Times New Roman"/>
              </a:rPr>
              <a:t> </a:t>
            </a:r>
            <a:r>
              <a:rPr sz="2000" dirty="0">
                <a:latin typeface="Times New Roman"/>
                <a:cs typeface="Times New Roman"/>
              </a:rPr>
              <a:t>supervised</a:t>
            </a:r>
            <a:r>
              <a:rPr sz="2000" spc="405" dirty="0">
                <a:latin typeface="Times New Roman"/>
                <a:cs typeface="Times New Roman"/>
              </a:rPr>
              <a:t> </a:t>
            </a:r>
            <a:r>
              <a:rPr sz="2000" dirty="0">
                <a:latin typeface="Times New Roman"/>
                <a:cs typeface="Times New Roman"/>
              </a:rPr>
              <a:t>learning</a:t>
            </a:r>
            <a:r>
              <a:rPr sz="2000" spc="400" dirty="0">
                <a:latin typeface="Times New Roman"/>
                <a:cs typeface="Times New Roman"/>
              </a:rPr>
              <a:t> </a:t>
            </a:r>
            <a:r>
              <a:rPr sz="2000" dirty="0">
                <a:latin typeface="Times New Roman"/>
                <a:cs typeface="Times New Roman"/>
              </a:rPr>
              <a:t>algorithm</a:t>
            </a:r>
            <a:r>
              <a:rPr sz="2000" spc="385" dirty="0">
                <a:latin typeface="Times New Roman"/>
                <a:cs typeface="Times New Roman"/>
              </a:rPr>
              <a:t> </a:t>
            </a:r>
            <a:r>
              <a:rPr sz="2000" dirty="0">
                <a:latin typeface="Times New Roman"/>
                <a:cs typeface="Times New Roman"/>
              </a:rPr>
              <a:t>which</a:t>
            </a:r>
            <a:r>
              <a:rPr sz="2000" spc="390" dirty="0">
                <a:latin typeface="Times New Roman"/>
                <a:cs typeface="Times New Roman"/>
              </a:rPr>
              <a:t> </a:t>
            </a:r>
            <a:r>
              <a:rPr sz="2000" dirty="0">
                <a:latin typeface="Times New Roman"/>
                <a:cs typeface="Times New Roman"/>
              </a:rPr>
              <a:t>is</a:t>
            </a:r>
            <a:r>
              <a:rPr sz="2000" spc="395" dirty="0">
                <a:latin typeface="Times New Roman"/>
                <a:cs typeface="Times New Roman"/>
              </a:rPr>
              <a:t> </a:t>
            </a:r>
            <a:r>
              <a:rPr sz="2000" dirty="0">
                <a:latin typeface="Times New Roman"/>
                <a:cs typeface="Times New Roman"/>
              </a:rPr>
              <a:t>the</a:t>
            </a:r>
            <a:r>
              <a:rPr sz="2000" spc="405" dirty="0">
                <a:latin typeface="Times New Roman"/>
                <a:cs typeface="Times New Roman"/>
              </a:rPr>
              <a:t> </a:t>
            </a:r>
            <a:r>
              <a:rPr sz="2000" dirty="0">
                <a:latin typeface="Times New Roman"/>
                <a:cs typeface="Times New Roman"/>
              </a:rPr>
              <a:t>crux</a:t>
            </a:r>
            <a:r>
              <a:rPr sz="2000" spc="400" dirty="0">
                <a:latin typeface="Times New Roman"/>
                <a:cs typeface="Times New Roman"/>
              </a:rPr>
              <a:t> </a:t>
            </a:r>
            <a:r>
              <a:rPr sz="2000" dirty="0">
                <a:latin typeface="Times New Roman"/>
                <a:cs typeface="Times New Roman"/>
              </a:rPr>
              <a:t>of</a:t>
            </a:r>
            <a:r>
              <a:rPr sz="2000" spc="400" dirty="0">
                <a:latin typeface="Times New Roman"/>
                <a:cs typeface="Times New Roman"/>
              </a:rPr>
              <a:t> </a:t>
            </a:r>
            <a:r>
              <a:rPr sz="2000" spc="-25" dirty="0">
                <a:latin typeface="Times New Roman"/>
                <a:cs typeface="Times New Roman"/>
              </a:rPr>
              <a:t>the</a:t>
            </a:r>
            <a:r>
              <a:rPr lang="en-US" sz="2000" dirty="0">
                <a:latin typeface="Times New Roman"/>
                <a:cs typeface="Times New Roman"/>
              </a:rPr>
              <a:t> </a:t>
            </a:r>
            <a:r>
              <a:rPr sz="2000" spc="-10" dirty="0">
                <a:latin typeface="Times New Roman"/>
                <a:cs typeface="Times New Roman"/>
              </a:rPr>
              <a:t>system</a:t>
            </a:r>
            <a:r>
              <a:rPr lang="en-US" sz="2000" spc="-10" dirty="0">
                <a:latin typeface="Times New Roman"/>
                <a:cs typeface="Times New Roman"/>
              </a:rPr>
              <a:t> and develops an web application.</a:t>
            </a:r>
            <a:endParaRPr sz="2000" dirty="0">
              <a:latin typeface="Times New Roman"/>
              <a:cs typeface="Times New Roman"/>
            </a:endParaRPr>
          </a:p>
          <a:p>
            <a:pPr marL="241300" indent="-228600">
              <a:lnSpc>
                <a:spcPct val="100000"/>
              </a:lnSpc>
              <a:spcBef>
                <a:spcPts val="515"/>
              </a:spcBef>
              <a:buFont typeface="Wingdings"/>
              <a:buChar char=""/>
              <a:tabLst>
                <a:tab pos="241300" algn="l"/>
              </a:tabLst>
            </a:pP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user</a:t>
            </a:r>
            <a:r>
              <a:rPr sz="2000" spc="-15" dirty="0">
                <a:latin typeface="Times New Roman"/>
                <a:cs typeface="Times New Roman"/>
              </a:rPr>
              <a:t> </a:t>
            </a:r>
            <a:r>
              <a:rPr sz="2000" dirty="0">
                <a:latin typeface="Times New Roman"/>
                <a:cs typeface="Times New Roman"/>
              </a:rPr>
              <a:t>needs</a:t>
            </a:r>
            <a:r>
              <a:rPr sz="2000" spc="-25"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enter</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lang="en-US" sz="2000" dirty="0">
                <a:latin typeface="Times New Roman"/>
                <a:cs typeface="Times New Roman"/>
              </a:rPr>
              <a:t>unique patient id </a:t>
            </a:r>
            <a:r>
              <a:rPr sz="2000" dirty="0">
                <a:latin typeface="Times New Roman"/>
                <a:cs typeface="Times New Roman"/>
              </a:rPr>
              <a:t>first</a:t>
            </a:r>
            <a:r>
              <a:rPr sz="2000" spc="-10" dirty="0">
                <a:latin typeface="Times New Roman"/>
                <a:cs typeface="Times New Roman"/>
              </a:rPr>
              <a:t>.</a:t>
            </a:r>
            <a:endParaRPr sz="2000" dirty="0">
              <a:latin typeface="Times New Roman"/>
              <a:cs typeface="Times New Roman"/>
            </a:endParaRPr>
          </a:p>
          <a:p>
            <a:pPr marL="241300" marR="5715" indent="-228600">
              <a:lnSpc>
                <a:spcPct val="80000"/>
              </a:lnSpc>
              <a:spcBef>
                <a:spcPts val="1010"/>
              </a:spcBef>
              <a:buFont typeface="Wingdings"/>
              <a:buChar char=""/>
              <a:tabLst>
                <a:tab pos="305435" algn="l"/>
              </a:tabLst>
            </a:pPr>
            <a:r>
              <a:rPr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After that all the patient information will be display and it will ask weather you need to predict churn or not</a:t>
            </a:r>
          </a:p>
          <a:p>
            <a:pPr marL="241300" marR="5715" indent="-228600">
              <a:lnSpc>
                <a:spcPct val="80000"/>
              </a:lnSpc>
              <a:spcBef>
                <a:spcPts val="1010"/>
              </a:spcBef>
              <a:buFont typeface="Wingdings"/>
              <a:buChar char=""/>
              <a:tabLst>
                <a:tab pos="305435" algn="l"/>
              </a:tabLst>
            </a:pPr>
            <a:r>
              <a:rPr lang="en-US" sz="2000" dirty="0">
                <a:latin typeface="Times New Roman"/>
                <a:cs typeface="Times New Roman"/>
              </a:rPr>
              <a:t>If you need to predict press yes </a:t>
            </a:r>
          </a:p>
          <a:p>
            <a:pPr marL="241300" marR="5715" indent="-228600">
              <a:lnSpc>
                <a:spcPct val="80000"/>
              </a:lnSpc>
              <a:spcBef>
                <a:spcPts val="1010"/>
              </a:spcBef>
              <a:buFont typeface="Wingdings"/>
              <a:buChar char=""/>
              <a:tabLst>
                <a:tab pos="305435" algn="l"/>
              </a:tabLst>
            </a:pPr>
            <a:r>
              <a:rPr lang="en-US" sz="2000" dirty="0">
                <a:latin typeface="Times New Roman"/>
                <a:cs typeface="Times New Roman"/>
              </a:rPr>
              <a:t>Then it will tell weather the patient will continue or dropout.</a:t>
            </a:r>
          </a:p>
          <a:p>
            <a:pPr marL="241300" marR="5715" indent="-228600">
              <a:lnSpc>
                <a:spcPct val="80000"/>
              </a:lnSpc>
              <a:spcBef>
                <a:spcPts val="1010"/>
              </a:spcBef>
              <a:buFont typeface="Wingdings"/>
              <a:buChar char=""/>
              <a:tabLst>
                <a:tab pos="305435" algn="l"/>
              </a:tabLst>
            </a:pPr>
            <a:r>
              <a:rPr lang="en-US" sz="2000" dirty="0">
                <a:latin typeface="Times New Roman"/>
                <a:cs typeface="Times New Roman"/>
              </a:rPr>
              <a:t>And if the patient wants to dropout it will show recommendations to reduce the dropout rate at that particular stage. </a:t>
            </a:r>
            <a:endParaRPr sz="2000" dirty="0">
              <a:latin typeface="Times New Roman"/>
              <a:cs typeface="Times New Roman"/>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1371600"/>
            <a:ext cx="4229735" cy="752129"/>
          </a:xfrm>
          <a:prstGeom prst="rect">
            <a:avLst/>
          </a:prstGeom>
        </p:spPr>
        <p:txBody>
          <a:bodyPr vert="horz" wrap="square" lIns="0" tIns="13335" rIns="0" bIns="0" rtlCol="0">
            <a:spAutoFit/>
          </a:bodyPr>
          <a:lstStyle/>
          <a:p>
            <a:pPr marL="12700">
              <a:lnSpc>
                <a:spcPct val="100000"/>
              </a:lnSpc>
              <a:spcBef>
                <a:spcPts val="105"/>
              </a:spcBef>
            </a:pPr>
            <a:r>
              <a:rPr lang="en-IN" sz="4800" dirty="0"/>
              <a:t>Visualization</a:t>
            </a:r>
            <a:r>
              <a:rPr lang="en-IN" b="0" dirty="0"/>
              <a:t> </a:t>
            </a:r>
            <a:r>
              <a:rPr lang="en-US" spc="-40" dirty="0"/>
              <a:t>:</a:t>
            </a:r>
            <a:endParaRPr sz="4400" dirty="0">
              <a:latin typeface="Calibri Light"/>
              <a:cs typeface="Calibri Light"/>
            </a:endParaRPr>
          </a:p>
        </p:txBody>
      </p:sp>
      <p:pic>
        <p:nvPicPr>
          <p:cNvPr id="3" name="object 3"/>
          <p:cNvPicPr/>
          <p:nvPr/>
        </p:nvPicPr>
        <p:blipFill>
          <a:blip r:embed="rId2" cstate="print"/>
          <a:stretch>
            <a:fillRect/>
          </a:stretch>
        </p:blipFill>
        <p:spPr>
          <a:xfrm>
            <a:off x="1353311" y="443483"/>
            <a:ext cx="9314688" cy="82753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2224314"/>
            <a:ext cx="8373644" cy="451032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3311" y="443483"/>
            <a:ext cx="9314688" cy="827532"/>
          </a:xfrm>
          <a:prstGeom prst="rect">
            <a:avLst/>
          </a:prstGeom>
        </p:spPr>
      </p:pic>
      <p:sp>
        <p:nvSpPr>
          <p:cNvPr id="3" name="object 3"/>
          <p:cNvSpPr txBox="1">
            <a:spLocks noGrp="1"/>
          </p:cNvSpPr>
          <p:nvPr>
            <p:ph type="title"/>
          </p:nvPr>
        </p:nvSpPr>
        <p:spPr>
          <a:xfrm>
            <a:off x="916939" y="1819401"/>
            <a:ext cx="10339070" cy="320601"/>
          </a:xfrm>
          <a:prstGeom prst="rect">
            <a:avLst/>
          </a:prstGeom>
        </p:spPr>
        <p:txBody>
          <a:bodyPr vert="horz" wrap="square" lIns="0" tIns="43180" rIns="0" bIns="0" rtlCol="0">
            <a:spAutoFit/>
          </a:bodyPr>
          <a:lstStyle/>
          <a:p>
            <a:pPr marL="12700" marR="5080">
              <a:lnSpc>
                <a:spcPct val="90000"/>
              </a:lnSpc>
              <a:spcBef>
                <a:spcPts val="340"/>
              </a:spcBef>
            </a:pPr>
            <a:endParaRPr sz="2000" dirty="0">
              <a:latin typeface="Times New Roman"/>
              <a:cs typeface="Times New Roman"/>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415" y="2438399"/>
            <a:ext cx="8383170" cy="41771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3311" y="443483"/>
            <a:ext cx="9314688" cy="827532"/>
          </a:xfrm>
          <a:prstGeom prst="rect">
            <a:avLst/>
          </a:prstGeom>
        </p:spPr>
      </p:pic>
      <p:sp>
        <p:nvSpPr>
          <p:cNvPr id="3" name="object 3"/>
          <p:cNvSpPr txBox="1">
            <a:spLocks noGrp="1"/>
          </p:cNvSpPr>
          <p:nvPr>
            <p:ph type="title"/>
          </p:nvPr>
        </p:nvSpPr>
        <p:spPr>
          <a:xfrm>
            <a:off x="891539" y="1819401"/>
            <a:ext cx="10222865" cy="320601"/>
          </a:xfrm>
          <a:prstGeom prst="rect">
            <a:avLst/>
          </a:prstGeom>
        </p:spPr>
        <p:txBody>
          <a:bodyPr vert="horz" wrap="square" lIns="0" tIns="43180" rIns="0" bIns="0" rtlCol="0">
            <a:spAutoFit/>
          </a:bodyPr>
          <a:lstStyle/>
          <a:p>
            <a:pPr marL="38100" marR="30480">
              <a:lnSpc>
                <a:spcPct val="90000"/>
              </a:lnSpc>
              <a:spcBef>
                <a:spcPts val="340"/>
              </a:spcBef>
            </a:pPr>
            <a:endParaRPr sz="2000" dirty="0">
              <a:latin typeface="Times New Roman"/>
              <a:cs typeface="Times New Roman"/>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069" y="1826328"/>
            <a:ext cx="9697803" cy="45009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53311" y="443483"/>
            <a:ext cx="9314688" cy="827532"/>
          </a:xfrm>
          <a:prstGeom prst="rect">
            <a:avLst/>
          </a:prstGeom>
        </p:spPr>
      </p:pic>
      <p:sp>
        <p:nvSpPr>
          <p:cNvPr id="3" name="object 3"/>
          <p:cNvSpPr txBox="1">
            <a:spLocks noGrp="1"/>
          </p:cNvSpPr>
          <p:nvPr>
            <p:ph type="title"/>
          </p:nvPr>
        </p:nvSpPr>
        <p:spPr>
          <a:xfrm>
            <a:off x="916939" y="1819401"/>
            <a:ext cx="10330815" cy="330219"/>
          </a:xfrm>
          <a:prstGeom prst="rect">
            <a:avLst/>
          </a:prstGeom>
        </p:spPr>
        <p:txBody>
          <a:bodyPr vert="horz" wrap="square" lIns="0" tIns="47625" rIns="0" bIns="0" rtlCol="0">
            <a:spAutoFit/>
          </a:bodyPr>
          <a:lstStyle/>
          <a:p>
            <a:pPr marL="12700" marR="5080">
              <a:lnSpc>
                <a:spcPts val="2160"/>
              </a:lnSpc>
              <a:spcBef>
                <a:spcPts val="375"/>
              </a:spcBef>
            </a:pPr>
            <a:endParaRPr sz="2000" dirty="0">
              <a:latin typeface="Times New Roman"/>
              <a:cs typeface="Times New Roman"/>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7675" y="1905000"/>
            <a:ext cx="8125959" cy="409597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7840" y="1324432"/>
            <a:ext cx="1934210" cy="543560"/>
          </a:xfrm>
          <a:prstGeom prst="rect">
            <a:avLst/>
          </a:prstGeom>
        </p:spPr>
        <p:txBody>
          <a:bodyPr vert="horz" wrap="square" lIns="0" tIns="12065" rIns="0" bIns="0" rtlCol="0">
            <a:spAutoFit/>
          </a:bodyPr>
          <a:lstStyle/>
          <a:p>
            <a:pPr marL="12700">
              <a:lnSpc>
                <a:spcPct val="100000"/>
              </a:lnSpc>
              <a:spcBef>
                <a:spcPts val="95"/>
              </a:spcBef>
            </a:pPr>
            <a:r>
              <a:rPr spc="-40" dirty="0"/>
              <a:t>OUTPUT:</a:t>
            </a:r>
          </a:p>
        </p:txBody>
      </p:sp>
      <p:pic>
        <p:nvPicPr>
          <p:cNvPr id="4" name="object 4"/>
          <p:cNvPicPr/>
          <p:nvPr/>
        </p:nvPicPr>
        <p:blipFill>
          <a:blip r:embed="rId2" cstate="print"/>
          <a:stretch>
            <a:fillRect/>
          </a:stretch>
        </p:blipFill>
        <p:spPr>
          <a:xfrm>
            <a:off x="1353311" y="443483"/>
            <a:ext cx="9314688" cy="827532"/>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676" y="2438400"/>
            <a:ext cx="4912360" cy="3658111"/>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655" y="1605448"/>
            <a:ext cx="5802066" cy="491558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7840" y="1324432"/>
            <a:ext cx="1934210" cy="543560"/>
          </a:xfrm>
          <a:prstGeom prst="rect">
            <a:avLst/>
          </a:prstGeom>
        </p:spPr>
        <p:txBody>
          <a:bodyPr vert="horz" wrap="square" lIns="0" tIns="12065" rIns="0" bIns="0" rtlCol="0">
            <a:spAutoFit/>
          </a:bodyPr>
          <a:lstStyle/>
          <a:p>
            <a:pPr marL="12700">
              <a:lnSpc>
                <a:spcPct val="100000"/>
              </a:lnSpc>
              <a:spcBef>
                <a:spcPts val="95"/>
              </a:spcBef>
            </a:pPr>
            <a:r>
              <a:rPr spc="-40" dirty="0"/>
              <a:t>OUTPUT:</a:t>
            </a:r>
          </a:p>
        </p:txBody>
      </p:sp>
      <p:pic>
        <p:nvPicPr>
          <p:cNvPr id="4" name="object 4"/>
          <p:cNvPicPr/>
          <p:nvPr/>
        </p:nvPicPr>
        <p:blipFill>
          <a:blip r:embed="rId2" cstate="print"/>
          <a:stretch>
            <a:fillRect/>
          </a:stretch>
        </p:blipFill>
        <p:spPr>
          <a:xfrm>
            <a:off x="1353311" y="443483"/>
            <a:ext cx="9314688" cy="827532"/>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323768"/>
            <a:ext cx="5257800" cy="3324689"/>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655" y="1324432"/>
            <a:ext cx="5675654" cy="5425577"/>
          </a:xfrm>
          <a:prstGeom prst="rect">
            <a:avLst/>
          </a:prstGeom>
        </p:spPr>
      </p:pic>
    </p:spTree>
    <p:extLst>
      <p:ext uri="{BB962C8B-B14F-4D97-AF65-F5344CB8AC3E}">
        <p14:creationId xmlns:p14="http://schemas.microsoft.com/office/powerpoint/2010/main" val="2600651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6693" y="1513408"/>
            <a:ext cx="3486150" cy="543560"/>
          </a:xfrm>
          <a:prstGeom prst="rect">
            <a:avLst/>
          </a:prstGeom>
        </p:spPr>
        <p:txBody>
          <a:bodyPr vert="horz" wrap="square" lIns="0" tIns="12065" rIns="0" bIns="0" rtlCol="0">
            <a:spAutoFit/>
          </a:bodyPr>
          <a:lstStyle/>
          <a:p>
            <a:pPr marL="12700">
              <a:lnSpc>
                <a:spcPct val="100000"/>
              </a:lnSpc>
              <a:spcBef>
                <a:spcPts val="95"/>
              </a:spcBef>
            </a:pPr>
            <a:r>
              <a:rPr dirty="0"/>
              <a:t>FUTURE</a:t>
            </a:r>
            <a:r>
              <a:rPr spc="-165" dirty="0"/>
              <a:t> </a:t>
            </a:r>
            <a:r>
              <a:rPr spc="-10" dirty="0"/>
              <a:t>SCOPE:</a:t>
            </a:r>
          </a:p>
        </p:txBody>
      </p:sp>
      <p:sp>
        <p:nvSpPr>
          <p:cNvPr id="3" name="object 3"/>
          <p:cNvSpPr txBox="1"/>
          <p:nvPr/>
        </p:nvSpPr>
        <p:spPr>
          <a:xfrm>
            <a:off x="831291" y="2800604"/>
            <a:ext cx="10161270" cy="3308350"/>
          </a:xfrm>
          <a:prstGeom prst="rect">
            <a:avLst/>
          </a:prstGeom>
        </p:spPr>
        <p:txBody>
          <a:bodyPr vert="horz" wrap="square" lIns="0" tIns="47625" rIns="0" bIns="0" rtlCol="0">
            <a:spAutoFit/>
          </a:bodyPr>
          <a:lstStyle/>
          <a:p>
            <a:pPr marL="241300" marR="5080" indent="-228600">
              <a:lnSpc>
                <a:spcPts val="2160"/>
              </a:lnSpc>
              <a:spcBef>
                <a:spcPts val="375"/>
              </a:spcBef>
              <a:buFont typeface="Arial"/>
              <a:buChar char="•"/>
              <a:tabLst>
                <a:tab pos="240665" algn="l"/>
                <a:tab pos="241300" algn="l"/>
              </a:tabLst>
            </a:pPr>
            <a:r>
              <a:rPr sz="2000" b="1" dirty="0">
                <a:latin typeface="Times New Roman"/>
                <a:cs typeface="Times New Roman"/>
              </a:rPr>
              <a:t>Advanced</a:t>
            </a:r>
            <a:r>
              <a:rPr sz="2000" b="1" spc="-150" dirty="0">
                <a:latin typeface="Times New Roman"/>
                <a:cs typeface="Times New Roman"/>
              </a:rPr>
              <a:t> </a:t>
            </a:r>
            <a:r>
              <a:rPr sz="2000" b="1" dirty="0">
                <a:latin typeface="Times New Roman"/>
                <a:cs typeface="Times New Roman"/>
              </a:rPr>
              <a:t>Algorithm</a:t>
            </a:r>
            <a:r>
              <a:rPr sz="2000" b="1" spc="-55" dirty="0">
                <a:latin typeface="Times New Roman"/>
                <a:cs typeface="Times New Roman"/>
              </a:rPr>
              <a:t> </a:t>
            </a:r>
            <a:r>
              <a:rPr sz="2000" b="1" dirty="0">
                <a:latin typeface="Times New Roman"/>
                <a:cs typeface="Times New Roman"/>
              </a:rPr>
              <a:t>Integration</a:t>
            </a:r>
            <a:r>
              <a:rPr sz="2000" dirty="0">
                <a:latin typeface="Times New Roman"/>
                <a:cs typeface="Times New Roman"/>
              </a:rPr>
              <a:t>:</a:t>
            </a:r>
            <a:r>
              <a:rPr sz="2000" spc="-45" dirty="0">
                <a:latin typeface="Times New Roman"/>
                <a:cs typeface="Times New Roman"/>
              </a:rPr>
              <a:t> </a:t>
            </a:r>
            <a:r>
              <a:rPr sz="2000" dirty="0">
                <a:latin typeface="Times New Roman"/>
                <a:cs typeface="Times New Roman"/>
              </a:rPr>
              <a:t>Exploring</a:t>
            </a:r>
            <a:r>
              <a:rPr sz="2000" spc="-45" dirty="0">
                <a:latin typeface="Times New Roman"/>
                <a:cs typeface="Times New Roman"/>
              </a:rPr>
              <a:t> </a:t>
            </a:r>
            <a:r>
              <a:rPr sz="2000" dirty="0">
                <a:latin typeface="Times New Roman"/>
                <a:cs typeface="Times New Roman"/>
              </a:rPr>
              <a:t>deep</a:t>
            </a:r>
            <a:r>
              <a:rPr sz="2000" spc="-20" dirty="0">
                <a:latin typeface="Times New Roman"/>
                <a:cs typeface="Times New Roman"/>
              </a:rPr>
              <a:t> </a:t>
            </a:r>
            <a:r>
              <a:rPr sz="2000" dirty="0">
                <a:latin typeface="Times New Roman"/>
                <a:cs typeface="Times New Roman"/>
              </a:rPr>
              <a:t>learning</a:t>
            </a:r>
            <a:r>
              <a:rPr sz="2000" spc="-30"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ensemble</a:t>
            </a:r>
            <a:r>
              <a:rPr sz="2000" spc="-10" dirty="0">
                <a:latin typeface="Times New Roman"/>
                <a:cs typeface="Times New Roman"/>
              </a:rPr>
              <a:t> </a:t>
            </a:r>
            <a:r>
              <a:rPr sz="2000" dirty="0">
                <a:latin typeface="Times New Roman"/>
                <a:cs typeface="Times New Roman"/>
              </a:rPr>
              <a:t>methods</a:t>
            </a:r>
            <a:r>
              <a:rPr sz="2000" spc="-20" dirty="0">
                <a:latin typeface="Times New Roman"/>
                <a:cs typeface="Times New Roman"/>
              </a:rPr>
              <a:t> </a:t>
            </a:r>
            <a:r>
              <a:rPr sz="2000" dirty="0">
                <a:latin typeface="Times New Roman"/>
                <a:cs typeface="Times New Roman"/>
              </a:rPr>
              <a:t>for</a:t>
            </a:r>
            <a:r>
              <a:rPr sz="2000" spc="-15" dirty="0">
                <a:latin typeface="Times New Roman"/>
                <a:cs typeface="Times New Roman"/>
              </a:rPr>
              <a:t> </a:t>
            </a:r>
            <a:r>
              <a:rPr sz="2000" spc="-10" dirty="0">
                <a:latin typeface="Times New Roman"/>
                <a:cs typeface="Times New Roman"/>
              </a:rPr>
              <a:t>improved </a:t>
            </a:r>
            <a:r>
              <a:rPr sz="2000" dirty="0">
                <a:latin typeface="Times New Roman"/>
                <a:cs typeface="Times New Roman"/>
              </a:rPr>
              <a:t>prediction</a:t>
            </a:r>
            <a:r>
              <a:rPr sz="2000" spc="-55" dirty="0">
                <a:latin typeface="Times New Roman"/>
                <a:cs typeface="Times New Roman"/>
              </a:rPr>
              <a:t> </a:t>
            </a:r>
            <a:r>
              <a:rPr sz="2000" spc="-10" dirty="0">
                <a:latin typeface="Times New Roman"/>
                <a:cs typeface="Times New Roman"/>
              </a:rPr>
              <a:t>accuracy.</a:t>
            </a:r>
            <a:endParaRPr sz="2000">
              <a:latin typeface="Times New Roman"/>
              <a:cs typeface="Times New Roman"/>
            </a:endParaRPr>
          </a:p>
          <a:p>
            <a:pPr marL="241300" marR="1148080" indent="-228600">
              <a:lnSpc>
                <a:spcPts val="2160"/>
              </a:lnSpc>
              <a:spcBef>
                <a:spcPts val="1000"/>
              </a:spcBef>
              <a:buFont typeface="Arial"/>
              <a:buChar char="•"/>
              <a:tabLst>
                <a:tab pos="240665" algn="l"/>
                <a:tab pos="241300" algn="l"/>
              </a:tabLst>
            </a:pPr>
            <a:r>
              <a:rPr sz="2000" b="1" dirty="0">
                <a:latin typeface="Times New Roman"/>
                <a:cs typeface="Times New Roman"/>
              </a:rPr>
              <a:t>Multi-Modal</a:t>
            </a:r>
            <a:r>
              <a:rPr sz="2000" b="1" spc="-60" dirty="0">
                <a:latin typeface="Times New Roman"/>
                <a:cs typeface="Times New Roman"/>
              </a:rPr>
              <a:t> </a:t>
            </a:r>
            <a:r>
              <a:rPr sz="2000" b="1" dirty="0">
                <a:latin typeface="Times New Roman"/>
                <a:cs typeface="Times New Roman"/>
              </a:rPr>
              <a:t>Data</a:t>
            </a:r>
            <a:r>
              <a:rPr sz="2000" b="1" spc="-20" dirty="0">
                <a:latin typeface="Times New Roman"/>
                <a:cs typeface="Times New Roman"/>
              </a:rPr>
              <a:t> </a:t>
            </a:r>
            <a:r>
              <a:rPr sz="2000" b="1" dirty="0">
                <a:latin typeface="Times New Roman"/>
                <a:cs typeface="Times New Roman"/>
              </a:rPr>
              <a:t>Incorporation</a:t>
            </a:r>
            <a:r>
              <a:rPr sz="2000" dirty="0">
                <a:latin typeface="Times New Roman"/>
                <a:cs typeface="Times New Roman"/>
              </a:rPr>
              <a:t>:</a:t>
            </a:r>
            <a:r>
              <a:rPr sz="2000" spc="-55" dirty="0">
                <a:latin typeface="Times New Roman"/>
                <a:cs typeface="Times New Roman"/>
              </a:rPr>
              <a:t> </a:t>
            </a:r>
            <a:r>
              <a:rPr sz="2000" dirty="0">
                <a:latin typeface="Times New Roman"/>
                <a:cs typeface="Times New Roman"/>
              </a:rPr>
              <a:t>Extending</a:t>
            </a:r>
            <a:r>
              <a:rPr sz="2000" spc="-50" dirty="0">
                <a:latin typeface="Times New Roman"/>
                <a:cs typeface="Times New Roman"/>
              </a:rPr>
              <a:t> </a:t>
            </a:r>
            <a:r>
              <a:rPr sz="2000" dirty="0">
                <a:latin typeface="Times New Roman"/>
                <a:cs typeface="Times New Roman"/>
              </a:rPr>
              <a:t>to</a:t>
            </a:r>
            <a:r>
              <a:rPr sz="2000" spc="-15" dirty="0">
                <a:latin typeface="Times New Roman"/>
                <a:cs typeface="Times New Roman"/>
              </a:rPr>
              <a:t> </a:t>
            </a:r>
            <a:r>
              <a:rPr sz="2000" dirty="0">
                <a:latin typeface="Times New Roman"/>
                <a:cs typeface="Times New Roman"/>
              </a:rPr>
              <a:t>genetic,</a:t>
            </a:r>
            <a:r>
              <a:rPr sz="2000" spc="-25" dirty="0">
                <a:latin typeface="Times New Roman"/>
                <a:cs typeface="Times New Roman"/>
              </a:rPr>
              <a:t> </a:t>
            </a:r>
            <a:r>
              <a:rPr sz="2000" dirty="0">
                <a:latin typeface="Times New Roman"/>
                <a:cs typeface="Times New Roman"/>
              </a:rPr>
              <a:t>imaging,</a:t>
            </a:r>
            <a:r>
              <a:rPr sz="2000" spc="-25"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omics</a:t>
            </a:r>
            <a:r>
              <a:rPr sz="2000" spc="-15" dirty="0">
                <a:latin typeface="Times New Roman"/>
                <a:cs typeface="Times New Roman"/>
              </a:rPr>
              <a:t> </a:t>
            </a:r>
            <a:r>
              <a:rPr sz="2000" dirty="0">
                <a:latin typeface="Times New Roman"/>
                <a:cs typeface="Times New Roman"/>
              </a:rPr>
              <a:t>data</a:t>
            </a:r>
            <a:r>
              <a:rPr sz="2000" spc="-20" dirty="0">
                <a:latin typeface="Times New Roman"/>
                <a:cs typeface="Times New Roman"/>
              </a:rPr>
              <a:t> </a:t>
            </a:r>
            <a:r>
              <a:rPr sz="2000" spc="-25" dirty="0">
                <a:latin typeface="Times New Roman"/>
                <a:cs typeface="Times New Roman"/>
              </a:rPr>
              <a:t>for </a:t>
            </a:r>
            <a:r>
              <a:rPr sz="2000" dirty="0">
                <a:latin typeface="Times New Roman"/>
                <a:cs typeface="Times New Roman"/>
              </a:rPr>
              <a:t>comprehensive</a:t>
            </a:r>
            <a:r>
              <a:rPr sz="2000" spc="-65" dirty="0">
                <a:latin typeface="Times New Roman"/>
                <a:cs typeface="Times New Roman"/>
              </a:rPr>
              <a:t> </a:t>
            </a:r>
            <a:r>
              <a:rPr sz="2000" spc="-10" dirty="0">
                <a:latin typeface="Times New Roman"/>
                <a:cs typeface="Times New Roman"/>
              </a:rPr>
              <a:t>prediction.</a:t>
            </a:r>
            <a:endParaRPr sz="2000">
              <a:latin typeface="Times New Roman"/>
              <a:cs typeface="Times New Roman"/>
            </a:endParaRPr>
          </a:p>
          <a:p>
            <a:pPr marL="241300" indent="-228600">
              <a:lnSpc>
                <a:spcPts val="2280"/>
              </a:lnSpc>
              <a:spcBef>
                <a:spcPts val="735"/>
              </a:spcBef>
              <a:buFont typeface="Arial"/>
              <a:buChar char="•"/>
              <a:tabLst>
                <a:tab pos="240665" algn="l"/>
                <a:tab pos="241300" algn="l"/>
              </a:tabLst>
            </a:pPr>
            <a:r>
              <a:rPr sz="2000" b="1" dirty="0">
                <a:latin typeface="Times New Roman"/>
                <a:cs typeface="Times New Roman"/>
              </a:rPr>
              <a:t>Real-Time</a:t>
            </a:r>
            <a:r>
              <a:rPr sz="2000" b="1" spc="-50" dirty="0">
                <a:latin typeface="Times New Roman"/>
                <a:cs typeface="Times New Roman"/>
              </a:rPr>
              <a:t> </a:t>
            </a:r>
            <a:r>
              <a:rPr sz="2000" b="1" dirty="0">
                <a:latin typeface="Times New Roman"/>
                <a:cs typeface="Times New Roman"/>
              </a:rPr>
              <a:t>Monitoring</a:t>
            </a:r>
            <a:r>
              <a:rPr sz="2000" b="1" spc="-60" dirty="0">
                <a:latin typeface="Times New Roman"/>
                <a:cs typeface="Times New Roman"/>
              </a:rPr>
              <a:t> </a:t>
            </a:r>
            <a:r>
              <a:rPr sz="2000" b="1" dirty="0">
                <a:latin typeface="Times New Roman"/>
                <a:cs typeface="Times New Roman"/>
              </a:rPr>
              <a:t>and</a:t>
            </a:r>
            <a:r>
              <a:rPr sz="2000" b="1" spc="-80" dirty="0">
                <a:latin typeface="Times New Roman"/>
                <a:cs typeface="Times New Roman"/>
              </a:rPr>
              <a:t> </a:t>
            </a:r>
            <a:r>
              <a:rPr sz="2000" b="1" spc="-10" dirty="0">
                <a:latin typeface="Times New Roman"/>
                <a:cs typeface="Times New Roman"/>
              </a:rPr>
              <a:t>Telemedicine</a:t>
            </a:r>
            <a:r>
              <a:rPr sz="2000" spc="-10" dirty="0">
                <a:latin typeface="Times New Roman"/>
                <a:cs typeface="Times New Roman"/>
              </a:rPr>
              <a:t>:</a:t>
            </a:r>
            <a:r>
              <a:rPr sz="2000" spc="-45" dirty="0">
                <a:latin typeface="Times New Roman"/>
                <a:cs typeface="Times New Roman"/>
              </a:rPr>
              <a:t> </a:t>
            </a:r>
            <a:r>
              <a:rPr sz="2000" dirty="0">
                <a:latin typeface="Times New Roman"/>
                <a:cs typeface="Times New Roman"/>
              </a:rPr>
              <a:t>Enabling</a:t>
            </a:r>
            <a:r>
              <a:rPr sz="2000" spc="-45" dirty="0">
                <a:latin typeface="Times New Roman"/>
                <a:cs typeface="Times New Roman"/>
              </a:rPr>
              <a:t> </a:t>
            </a:r>
            <a:r>
              <a:rPr sz="2000" dirty="0">
                <a:latin typeface="Times New Roman"/>
                <a:cs typeface="Times New Roman"/>
              </a:rPr>
              <a:t>remote</a:t>
            </a:r>
            <a:r>
              <a:rPr sz="2000" spc="-35" dirty="0">
                <a:latin typeface="Times New Roman"/>
                <a:cs typeface="Times New Roman"/>
              </a:rPr>
              <a:t> </a:t>
            </a:r>
            <a:r>
              <a:rPr sz="2000" dirty="0">
                <a:latin typeface="Times New Roman"/>
                <a:cs typeface="Times New Roman"/>
              </a:rPr>
              <a:t>consultations</a:t>
            </a:r>
            <a:r>
              <a:rPr sz="2000" spc="-60"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proactive</a:t>
            </a:r>
            <a:r>
              <a:rPr sz="2000" spc="-60" dirty="0">
                <a:latin typeface="Times New Roman"/>
                <a:cs typeface="Times New Roman"/>
              </a:rPr>
              <a:t> </a:t>
            </a:r>
            <a:r>
              <a:rPr sz="2000" spc="-10" dirty="0">
                <a:latin typeface="Times New Roman"/>
                <a:cs typeface="Times New Roman"/>
              </a:rPr>
              <a:t>disease</a:t>
            </a:r>
            <a:endParaRPr sz="2000">
              <a:latin typeface="Times New Roman"/>
              <a:cs typeface="Times New Roman"/>
            </a:endParaRPr>
          </a:p>
          <a:p>
            <a:pPr marL="241300">
              <a:lnSpc>
                <a:spcPts val="2280"/>
              </a:lnSpc>
            </a:pPr>
            <a:r>
              <a:rPr sz="2000" spc="-10" dirty="0">
                <a:latin typeface="Times New Roman"/>
                <a:cs typeface="Times New Roman"/>
              </a:rPr>
              <a:t>monitoring.</a:t>
            </a:r>
            <a:endParaRPr sz="2000">
              <a:latin typeface="Times New Roman"/>
              <a:cs typeface="Times New Roman"/>
            </a:endParaRPr>
          </a:p>
          <a:p>
            <a:pPr marL="241300" marR="934085" indent="-228600">
              <a:lnSpc>
                <a:spcPts val="2160"/>
              </a:lnSpc>
              <a:spcBef>
                <a:spcPts val="1030"/>
              </a:spcBef>
              <a:buFont typeface="Arial"/>
              <a:buChar char="•"/>
              <a:tabLst>
                <a:tab pos="240665" algn="l"/>
                <a:tab pos="241300" algn="l"/>
              </a:tabLst>
            </a:pPr>
            <a:r>
              <a:rPr sz="2000" b="1" dirty="0">
                <a:latin typeface="Times New Roman"/>
                <a:cs typeface="Times New Roman"/>
              </a:rPr>
              <a:t>Explainable</a:t>
            </a:r>
            <a:r>
              <a:rPr sz="2000" b="1" spc="-170" dirty="0">
                <a:latin typeface="Times New Roman"/>
                <a:cs typeface="Times New Roman"/>
              </a:rPr>
              <a:t> </a:t>
            </a:r>
            <a:r>
              <a:rPr sz="2000" b="1" dirty="0">
                <a:latin typeface="Times New Roman"/>
                <a:cs typeface="Times New Roman"/>
              </a:rPr>
              <a:t>AI Implementation</a:t>
            </a:r>
            <a:r>
              <a:rPr sz="2000" dirty="0">
                <a:latin typeface="Times New Roman"/>
                <a:cs typeface="Times New Roman"/>
              </a:rPr>
              <a:t>:</a:t>
            </a:r>
            <a:r>
              <a:rPr sz="2000" spc="-45" dirty="0">
                <a:latin typeface="Times New Roman"/>
                <a:cs typeface="Times New Roman"/>
              </a:rPr>
              <a:t> </a:t>
            </a:r>
            <a:r>
              <a:rPr sz="2000" dirty="0">
                <a:latin typeface="Times New Roman"/>
                <a:cs typeface="Times New Roman"/>
              </a:rPr>
              <a:t>Ensuring</a:t>
            </a:r>
            <a:r>
              <a:rPr sz="2000" spc="-40" dirty="0">
                <a:latin typeface="Times New Roman"/>
                <a:cs typeface="Times New Roman"/>
              </a:rPr>
              <a:t> </a:t>
            </a:r>
            <a:r>
              <a:rPr sz="2000" dirty="0">
                <a:latin typeface="Times New Roman"/>
                <a:cs typeface="Times New Roman"/>
              </a:rPr>
              <a:t>transparency</a:t>
            </a:r>
            <a:r>
              <a:rPr sz="2000" spc="-4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trust</a:t>
            </a:r>
            <a:r>
              <a:rPr sz="2000" spc="-25" dirty="0">
                <a:latin typeface="Times New Roman"/>
                <a:cs typeface="Times New Roman"/>
              </a:rPr>
              <a:t> </a:t>
            </a:r>
            <a:r>
              <a:rPr sz="2000" dirty="0">
                <a:latin typeface="Times New Roman"/>
                <a:cs typeface="Times New Roman"/>
              </a:rPr>
              <a:t>through</a:t>
            </a:r>
            <a:r>
              <a:rPr sz="2000" spc="-40" dirty="0">
                <a:latin typeface="Times New Roman"/>
                <a:cs typeface="Times New Roman"/>
              </a:rPr>
              <a:t> </a:t>
            </a:r>
            <a:r>
              <a:rPr sz="2000" spc="-10" dirty="0">
                <a:latin typeface="Times New Roman"/>
                <a:cs typeface="Times New Roman"/>
              </a:rPr>
              <a:t>interpretable predictions.</a:t>
            </a:r>
            <a:endParaRPr sz="2000">
              <a:latin typeface="Times New Roman"/>
              <a:cs typeface="Times New Roman"/>
            </a:endParaRPr>
          </a:p>
          <a:p>
            <a:pPr marL="241300" marR="9525" indent="-228600">
              <a:lnSpc>
                <a:spcPts val="2160"/>
              </a:lnSpc>
              <a:spcBef>
                <a:spcPts val="994"/>
              </a:spcBef>
              <a:buFont typeface="Arial"/>
              <a:buChar char="•"/>
              <a:tabLst>
                <a:tab pos="240665" algn="l"/>
                <a:tab pos="241300" algn="l"/>
              </a:tabLst>
            </a:pPr>
            <a:r>
              <a:rPr sz="2000" b="1" dirty="0">
                <a:latin typeface="Times New Roman"/>
                <a:cs typeface="Times New Roman"/>
              </a:rPr>
              <a:t>Global</a:t>
            </a:r>
            <a:r>
              <a:rPr sz="2000" b="1" spc="-40" dirty="0">
                <a:latin typeface="Times New Roman"/>
                <a:cs typeface="Times New Roman"/>
              </a:rPr>
              <a:t> </a:t>
            </a:r>
            <a:r>
              <a:rPr sz="2000" b="1" dirty="0">
                <a:latin typeface="Times New Roman"/>
                <a:cs typeface="Times New Roman"/>
              </a:rPr>
              <a:t>Deployment</a:t>
            </a:r>
            <a:r>
              <a:rPr sz="2000" b="1" spc="-35" dirty="0">
                <a:latin typeface="Times New Roman"/>
                <a:cs typeface="Times New Roman"/>
              </a:rPr>
              <a:t> </a:t>
            </a:r>
            <a:r>
              <a:rPr sz="2000" b="1" dirty="0">
                <a:latin typeface="Times New Roman"/>
                <a:cs typeface="Times New Roman"/>
              </a:rPr>
              <a:t>and</a:t>
            </a:r>
            <a:r>
              <a:rPr sz="2000" b="1" spc="-130" dirty="0">
                <a:latin typeface="Times New Roman"/>
                <a:cs typeface="Times New Roman"/>
              </a:rPr>
              <a:t> </a:t>
            </a:r>
            <a:r>
              <a:rPr sz="2000" b="1" dirty="0">
                <a:latin typeface="Times New Roman"/>
                <a:cs typeface="Times New Roman"/>
              </a:rPr>
              <a:t>Accessibility</a:t>
            </a:r>
            <a:r>
              <a:rPr sz="2000" dirty="0">
                <a:latin typeface="Times New Roman"/>
                <a:cs typeface="Times New Roman"/>
              </a:rPr>
              <a:t>:</a:t>
            </a:r>
            <a:r>
              <a:rPr sz="2000" spc="-160" dirty="0">
                <a:latin typeface="Times New Roman"/>
                <a:cs typeface="Times New Roman"/>
              </a:rPr>
              <a:t> </a:t>
            </a:r>
            <a:r>
              <a:rPr sz="2000" dirty="0">
                <a:latin typeface="Times New Roman"/>
                <a:cs typeface="Times New Roman"/>
              </a:rPr>
              <a:t>Addressing</a:t>
            </a:r>
            <a:r>
              <a:rPr sz="2000" spc="-35" dirty="0">
                <a:latin typeface="Times New Roman"/>
                <a:cs typeface="Times New Roman"/>
              </a:rPr>
              <a:t> </a:t>
            </a:r>
            <a:r>
              <a:rPr sz="2000" dirty="0">
                <a:latin typeface="Times New Roman"/>
                <a:cs typeface="Times New Roman"/>
              </a:rPr>
              <a:t>barriers</a:t>
            </a:r>
            <a:r>
              <a:rPr sz="2000" spc="-45"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widespread</a:t>
            </a:r>
            <a:r>
              <a:rPr sz="2000" spc="-40" dirty="0">
                <a:latin typeface="Times New Roman"/>
                <a:cs typeface="Times New Roman"/>
              </a:rPr>
              <a:t> </a:t>
            </a:r>
            <a:r>
              <a:rPr sz="2000" dirty="0">
                <a:latin typeface="Times New Roman"/>
                <a:cs typeface="Times New Roman"/>
              </a:rPr>
              <a:t>access</a:t>
            </a:r>
            <a:r>
              <a:rPr sz="2000" spc="-5" dirty="0">
                <a:latin typeface="Times New Roman"/>
                <a:cs typeface="Times New Roman"/>
              </a:rPr>
              <a:t> </a:t>
            </a:r>
            <a:r>
              <a:rPr sz="2000" dirty="0">
                <a:latin typeface="Times New Roman"/>
                <a:cs typeface="Times New Roman"/>
              </a:rPr>
              <a:t>and</a:t>
            </a:r>
            <a:r>
              <a:rPr sz="2000" spc="-10" dirty="0">
                <a:latin typeface="Times New Roman"/>
                <a:cs typeface="Times New Roman"/>
              </a:rPr>
              <a:t> utilization worldwide.</a:t>
            </a:r>
            <a:endParaRPr sz="2000">
              <a:latin typeface="Times New Roman"/>
              <a:cs typeface="Times New Roman"/>
            </a:endParaRPr>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704" y="1989200"/>
            <a:ext cx="3092450" cy="543560"/>
          </a:xfrm>
          <a:prstGeom prst="rect">
            <a:avLst/>
          </a:prstGeom>
        </p:spPr>
        <p:txBody>
          <a:bodyPr vert="horz" wrap="square" lIns="0" tIns="12065" rIns="0" bIns="0" rtlCol="0">
            <a:spAutoFit/>
          </a:bodyPr>
          <a:lstStyle/>
          <a:p>
            <a:pPr marL="12700">
              <a:lnSpc>
                <a:spcPct val="100000"/>
              </a:lnSpc>
              <a:spcBef>
                <a:spcPts val="95"/>
              </a:spcBef>
            </a:pPr>
            <a:r>
              <a:rPr spc="-10" dirty="0"/>
              <a:t>CONCLUSION:</a:t>
            </a:r>
          </a:p>
        </p:txBody>
      </p:sp>
      <p:sp>
        <p:nvSpPr>
          <p:cNvPr id="3" name="object 3"/>
          <p:cNvSpPr txBox="1">
            <a:spLocks noGrp="1"/>
          </p:cNvSpPr>
          <p:nvPr>
            <p:ph type="body" idx="1"/>
          </p:nvPr>
        </p:nvSpPr>
        <p:spPr>
          <a:xfrm>
            <a:off x="760425" y="3322701"/>
            <a:ext cx="10671149" cy="2259593"/>
          </a:xfrm>
          <a:prstGeom prst="rect">
            <a:avLst/>
          </a:prstGeom>
        </p:spPr>
        <p:txBody>
          <a:bodyPr vert="horz" wrap="square" lIns="0" tIns="43180" rIns="0" bIns="0" rtlCol="0">
            <a:spAutoFit/>
          </a:bodyPr>
          <a:lstStyle/>
          <a:p>
            <a:pPr marL="39370" marR="5080">
              <a:lnSpc>
                <a:spcPct val="90000"/>
              </a:lnSpc>
              <a:spcBef>
                <a:spcPts val="340"/>
              </a:spcBef>
            </a:pPr>
            <a:r>
              <a:rPr lang="en-US" dirty="0"/>
              <a:t>This clinical trial prediction project successfully leverages advanced machine learning algorithms—Random Forest, </a:t>
            </a:r>
            <a:r>
              <a:rPr lang="en-US" dirty="0" err="1"/>
              <a:t>XGBoost</a:t>
            </a:r>
            <a:r>
              <a:rPr lang="en-US" dirty="0"/>
              <a:t>, and Gradient Boosting—to predict patient dropout risks and improve retention strategies. By analyzing key factors like demographics, enrollment stages, and dropout reasons, the model provides valuable insights that help trial coordinators intervene early and personalize retention strategies. The development of a user-friendly web platform ensures real-time predictions and actionable recommendations, ultimately enhancing trial efficiency, reducing costs, and improving patient engagement. This approach holds significant potential to optimize clinical trial outcomes and contribute to more successful and efficient clinical research.</a:t>
            </a:r>
            <a:endParaRPr spc="-10" dirty="0"/>
          </a:p>
        </p:txBody>
      </p:sp>
      <p:pic>
        <p:nvPicPr>
          <p:cNvPr id="4" name="object 4"/>
          <p:cNvPicPr/>
          <p:nvPr/>
        </p:nvPicPr>
        <p:blipFill>
          <a:blip r:embed="rId2" cstate="print"/>
          <a:stretch>
            <a:fillRect/>
          </a:stretch>
        </p:blipFill>
        <p:spPr>
          <a:xfrm>
            <a:off x="1353311" y="443483"/>
            <a:ext cx="9314688" cy="8275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9041" y="1510156"/>
            <a:ext cx="5493385" cy="1854835"/>
          </a:xfrm>
          <a:prstGeom prst="rect">
            <a:avLst/>
          </a:prstGeom>
        </p:spPr>
        <p:txBody>
          <a:bodyPr vert="horz" wrap="square" lIns="0" tIns="12700" rIns="0" bIns="0" rtlCol="0">
            <a:spAutoFit/>
          </a:bodyPr>
          <a:lstStyle/>
          <a:p>
            <a:pPr marL="12700">
              <a:lnSpc>
                <a:spcPct val="100000"/>
              </a:lnSpc>
              <a:spcBef>
                <a:spcPts val="100"/>
              </a:spcBef>
            </a:pPr>
            <a:r>
              <a:rPr sz="12000" b="0" spc="-20" dirty="0">
                <a:latin typeface="Comic Sans MS"/>
                <a:cs typeface="Comic Sans MS"/>
              </a:rPr>
              <a:t>THANK</a:t>
            </a:r>
            <a:endParaRPr sz="12000">
              <a:latin typeface="Comic Sans MS"/>
              <a:cs typeface="Comic Sans MS"/>
            </a:endParaRPr>
          </a:p>
        </p:txBody>
      </p:sp>
      <p:sp>
        <p:nvSpPr>
          <p:cNvPr id="3" name="object 3"/>
          <p:cNvSpPr txBox="1"/>
          <p:nvPr/>
        </p:nvSpPr>
        <p:spPr>
          <a:xfrm>
            <a:off x="7402194" y="3156330"/>
            <a:ext cx="3332479" cy="1854835"/>
          </a:xfrm>
          <a:prstGeom prst="rect">
            <a:avLst/>
          </a:prstGeom>
        </p:spPr>
        <p:txBody>
          <a:bodyPr vert="horz" wrap="square" lIns="0" tIns="12700" rIns="0" bIns="0" rtlCol="0">
            <a:spAutoFit/>
          </a:bodyPr>
          <a:lstStyle/>
          <a:p>
            <a:pPr marL="12700">
              <a:lnSpc>
                <a:spcPct val="100000"/>
              </a:lnSpc>
              <a:spcBef>
                <a:spcPts val="100"/>
              </a:spcBef>
            </a:pPr>
            <a:r>
              <a:rPr sz="12000" spc="-25" dirty="0">
                <a:latin typeface="Comic Sans MS"/>
                <a:cs typeface="Comic Sans MS"/>
              </a:rPr>
              <a:t>YOU</a:t>
            </a:r>
            <a:endParaRPr sz="12000">
              <a:latin typeface="Comic Sans MS"/>
              <a:cs typeface="Comic Sans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TotalTime>
  <Words>1752</Words>
  <Application>Microsoft Office PowerPoint</Application>
  <PresentationFormat>Widescreen</PresentationFormat>
  <Paragraphs>174</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Comic Sans MS</vt:lpstr>
      <vt:lpstr>Times New Roman</vt:lpstr>
      <vt:lpstr>Wingdings</vt:lpstr>
      <vt:lpstr>Office Theme</vt:lpstr>
      <vt:lpstr>CHURN PREDICTION                                         IN   CLINICAL TRAILS</vt:lpstr>
      <vt:lpstr>TEAM DETAILS:</vt:lpstr>
      <vt:lpstr>PROBLEM STATEMENT:</vt:lpstr>
      <vt:lpstr>WHY WE HAVE CHOOSEN ??</vt:lpstr>
      <vt:lpstr>THE PROJECT AIMS TO HAVE:-</vt:lpstr>
      <vt:lpstr>REAL TIME EXAMPLE:-</vt:lpstr>
      <vt:lpstr>ABSTRACT:</vt:lpstr>
      <vt:lpstr>INTRODUCTION:</vt:lpstr>
      <vt:lpstr>OBJECTIVES:</vt:lpstr>
      <vt:lpstr>CHALLENGES:</vt:lpstr>
      <vt:lpstr>DATASET AND MODEL DESCRIPTION:</vt:lpstr>
      <vt:lpstr>WORK FLOW / METHODOLOGY:</vt:lpstr>
      <vt:lpstr>TECHNICAL STACK USED:</vt:lpstr>
      <vt:lpstr>ALGORITHMS USED:</vt:lpstr>
      <vt:lpstr>SYSTEM DESIGN:</vt:lpstr>
      <vt:lpstr>Visualization :</vt:lpstr>
      <vt:lpstr>PowerPoint Presentation</vt:lpstr>
      <vt:lpstr>PowerPoint Presentation</vt:lpstr>
      <vt:lpstr>PowerPoint Presentation</vt:lpstr>
      <vt:lpstr>OUTPUT:</vt:lpstr>
      <vt:lpstr>OUTPUT:</vt:lpstr>
      <vt:lpstr>FUTURE SCOPE:</vt:lpstr>
      <vt:lpstr>CONCLUSION:</vt:lpstr>
      <vt:lpstr>THANK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 PREDICTION                                         IN   CLINICAL TRAILS</dc:title>
  <dc:creator>kedar eswar</dc:creator>
  <cp:lastModifiedBy>surya prakash</cp:lastModifiedBy>
  <cp:revision>15</cp:revision>
  <dcterms:created xsi:type="dcterms:W3CDTF">2024-11-09T10:55:21Z</dcterms:created>
  <dcterms:modified xsi:type="dcterms:W3CDTF">2025-05-03T11:40:39Z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2024-11-09T00:00:00Z</vt:filetime>
  </property>
  <property fmtid="{D5CDD505-2E9C-101B-9397-08002B2CF9AE}" pid="3" name="Creator">
    <vt:lpwstr>Samsung Electronics</vt:lpwstr>
  </property>
  <property fmtid="{D5CDD505-2E9C-101B-9397-08002B2CF9AE}" pid="4" name="LastSaved">
    <vt:filetime>2024-11-09T00:00:00Z</vt:filetime>
  </property>
  <property fmtid="{D5CDD505-2E9C-101B-9397-08002B2CF9AE}" pid="5" name="Producer">
    <vt:lpwstr>Samsung Electronics</vt:lpwstr>
  </property>
</Properties>
</file>